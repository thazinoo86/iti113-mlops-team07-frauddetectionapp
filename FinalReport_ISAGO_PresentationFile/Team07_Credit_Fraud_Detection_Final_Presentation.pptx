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8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24" autoAdjust="0"/>
  </p:normalViewPr>
  <p:slideViewPr>
    <p:cSldViewPr snapToGrid="0">
      <p:cViewPr varScale="1">
        <p:scale>
          <a:sx n="60" d="100"/>
          <a:sy n="60" d="100"/>
        </p:scale>
        <p:origin x="14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Recall</c:v>
          </c:tx>
          <c:spPr>
            <a:ln w="38100">
              <a:solidFill>
                <a:srgbClr val="2F6FED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2F6FED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61.97%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EC-4429-9C06-D07FC1F83D8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62.37%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BEC-4429-9C06-D07FC1F83D8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62.78%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EC-4429-9C06-D07FC1F83D8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63.12%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BEC-4429-9C06-D07FC1F83D8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63.40%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BEC-4429-9C06-D07FC1F83D85}"/>
                </c:ext>
              </c:extLst>
            </c:dLbl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1%</c:v>
              </c:pt>
              <c:pt idx="1">
                <c:v>2%</c:v>
              </c:pt>
              <c:pt idx="2">
                <c:v>3%</c:v>
              </c:pt>
              <c:pt idx="3">
                <c:v>4%</c:v>
              </c:pt>
              <c:pt idx="4">
                <c:v>5%</c:v>
              </c:pt>
            </c:strLit>
          </c:cat>
          <c:val>
            <c:numLit>
              <c:formatCode>0.0%</c:formatCode>
              <c:ptCount val="5"/>
              <c:pt idx="0">
                <c:v>61.97</c:v>
              </c:pt>
              <c:pt idx="1">
                <c:v>62.37</c:v>
              </c:pt>
              <c:pt idx="2">
                <c:v>62.78</c:v>
              </c:pt>
              <c:pt idx="3">
                <c:v>63.12</c:v>
              </c:pt>
              <c:pt idx="4">
                <c:v>63.4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BEC-4429-9C06-D07FC1F83D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SG"/>
                  <a:t>False-positive budget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2657A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4"/>
          <c:min val="61.5"/>
        </c:scaling>
        <c:delete val="0"/>
        <c:axPos val="l"/>
        <c:majorGridlines>
          <c:spPr>
            <a:ln w="9525">
              <a:solidFill>
                <a:srgbClr val="CFD8E3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57A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5"/>
      </c:valAx>
      <c:spPr>
        <a:noFill/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Our goal was not simply to train an accurate model. We wanted to build an end-to-end solution that detects fraud in real time, controls false alerts, avoids data leakage, and can be deployed through a governed machine-learning process.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Let’s first look at the complete project workflow.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I’ll begin with the business problem and data preparation, then explain our model selection, testing, deployment, and governance approach.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Technically, this is a binary-classification problem. The model outputs a probability that a transaction is fraudulent. We then compare that probability with a fixed decision threshold.</a:t>
            </a:r>
          </a:p>
          <a:p>
            <a:endParaRPr lang="en-SG" dirty="0"/>
          </a:p>
          <a:p>
            <a:r>
              <a:rPr lang="en-SG" dirty="0"/>
              <a:t>Our selected threshold is 0.1947, which is equivalent to </a:t>
            </a:r>
            <a:r>
              <a:rPr lang="en-SG" b="1" dirty="0"/>
              <a:t>19.47%</a:t>
            </a:r>
            <a:r>
              <a:rPr lang="en-SG" dirty="0"/>
              <a:t>. If the predicted fraud probability is at least 19.47%, the transaction is flagged. Otherwise, it is classified as non-fraud.</a:t>
            </a:r>
          </a:p>
          <a:p>
            <a:endParaRPr lang="en-SG" dirty="0"/>
          </a:p>
          <a:p>
            <a:r>
              <a:rPr lang="en-SG" dirty="0"/>
              <a:t>Transition : Before training any model, however, we had to verify that the available data was trustworthy.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We then audited the data, identified leakage and data-quality issues, and created leakage-safe features.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preparation, features and split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Experiments tested model complexity and operating thresholds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Next, we compared Logistic Regression and </a:t>
            </a:r>
            <a:r>
              <a:rPr lang="en-SG" dirty="0" err="1"/>
              <a:t>XGBoost</a:t>
            </a:r>
            <a:r>
              <a:rPr lang="en-SG" dirty="0"/>
              <a:t> candidates. We selected the champion model and fixed its decision threshold using only the validation set.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Threshold trade-off </a:t>
            </a:r>
          </a:p>
          <a:p>
            <a:endParaRPr lang="en-SG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Frozen Test set – Fixed/predefined threshold testing confirmed deployment readiness—with known misses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Finally, we built an </a:t>
            </a:r>
            <a:r>
              <a:rPr lang="en-SG" dirty="0" err="1"/>
              <a:t>MLOps</a:t>
            </a:r>
            <a:r>
              <a:rPr lang="en-SG" dirty="0"/>
              <a:t> pipeline, evaluated the model once on an unseen test set, registered the model, and deployed it with monitoring and manual approval controls.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central principle throughout the project was reproducibility: the same data, code, model, and threshold should produce the same result.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Final package: deploy with guardrails, then learn from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FD8D-69D4-04CF-FA9A-60E76B80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9BFA5-B896-06FF-D563-9764C8A1F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CECAD-97FD-120D-B346-B160F60CF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evidence: Bes_Run_Name.png</a:t>
            </a:r>
          </a:p>
          <a:p>
            <a:r>
              <a:t>- User-provided project evidence: SageMaker_Pipeline_ExecutionResult.jpeg</a:t>
            </a:r>
          </a:p>
          <a:p>
            <a:r>
              <a:t>- User-provided project evidence: CloudWatchLog.png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3A50C-7BFD-449E-D1D4-4583AEE0C4A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04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722405ddec0df92f9.gradio.liv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48-42">
            <a:extLst>
              <a:ext uri="{FF2B5EF4-FFF2-40B4-BE49-F238E27FC236}">
                <a16:creationId xmlns:a16="http://schemas.microsoft.com/office/drawing/2014/main" id="{AF303FB9-F139-41DD-9A7D-B6F5F9C23915}"/>
              </a:ext>
            </a:extLst>
          </p:cNvPr>
          <p:cNvSpPr>
            <a:spLocks noGrp="1"/>
          </p:cNvSpPr>
          <p:nvPr/>
        </p:nvSpPr>
        <p:spPr>
          <a:xfrm>
            <a:off x="3480409" y="3471425"/>
            <a:ext cx="5334000" cy="464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3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FINAL PROJECT PRESENTATION</a:t>
            </a:r>
          </a:p>
        </p:txBody>
      </p:sp>
      <p:sp>
        <p:nvSpPr>
          <p:cNvPr id="2" name="text-48-98">
            <a:extLst>
              <a:ext uri="{FF2B5EF4-FFF2-40B4-BE49-F238E27FC236}">
                <a16:creationId xmlns:a16="http://schemas.microsoft.com/office/drawing/2014/main" id="{0DAF1945-B113-4E5D-AD54-CF695A3678F2}"/>
              </a:ext>
            </a:extLst>
          </p:cNvPr>
          <p:cNvSpPr>
            <a:spLocks noGrp="1"/>
          </p:cNvSpPr>
          <p:nvPr/>
        </p:nvSpPr>
        <p:spPr>
          <a:xfrm>
            <a:off x="2728448" y="869309"/>
            <a:ext cx="6760992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</a:pPr>
            <a:r>
              <a:rPr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/>
                <a:ea typeface="Times New Roman"/>
                <a:cs typeface="Times New Roman"/>
              </a:rPr>
              <a:t>Real-Time Credit Card Fraud Detection System</a:t>
            </a:r>
            <a:endParaRPr sz="4000" dirty="0">
              <a:solidFill>
                <a:schemeClr val="tx2">
                  <a:lumMod val="75000"/>
                  <a:lumOff val="2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-48-278">
            <a:extLst>
              <a:ext uri="{FF2B5EF4-FFF2-40B4-BE49-F238E27FC236}">
                <a16:creationId xmlns:a16="http://schemas.microsoft.com/office/drawing/2014/main" id="{ACE0D8E0-3662-4486-A017-012B4711C9BD}"/>
              </a:ext>
            </a:extLst>
          </p:cNvPr>
          <p:cNvSpPr>
            <a:spLocks noGrp="1"/>
          </p:cNvSpPr>
          <p:nvPr/>
        </p:nvSpPr>
        <p:spPr>
          <a:xfrm>
            <a:off x="3599472" y="2554423"/>
            <a:ext cx="5095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/>
          </a:bodyPr>
          <a:lstStyle/>
          <a:p>
            <a:pPr algn="ctr">
              <a:buNone/>
              <a:defRPr sz="18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lang="en-SG" sz="1875" dirty="0">
                <a:solidFill>
                  <a:srgbClr val="5265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Machine Learning Solution for Real-Time Fraud Detection and Governed Deployment</a:t>
            </a:r>
            <a:endParaRPr b="0" dirty="0">
              <a:solidFill>
                <a:srgbClr val="52657A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4" name="box-48-470">
            <a:extLst>
              <a:ext uri="{FF2B5EF4-FFF2-40B4-BE49-F238E27FC236}">
                <a16:creationId xmlns:a16="http://schemas.microsoft.com/office/drawing/2014/main" id="{91F02FDE-9311-47B6-AD28-130803597EFC}"/>
              </a:ext>
            </a:extLst>
          </p:cNvPr>
          <p:cNvSpPr>
            <a:spLocks noGrp="1"/>
          </p:cNvSpPr>
          <p:nvPr/>
        </p:nvSpPr>
        <p:spPr>
          <a:xfrm>
            <a:off x="4035481" y="4132412"/>
            <a:ext cx="4303918" cy="1926124"/>
          </a:xfrm>
          <a:prstGeom prst="roundRect">
            <a:avLst>
              <a:gd name="adj" fmla="val 7273"/>
            </a:avLst>
          </a:prstGeom>
          <a:solidFill>
            <a:schemeClr val="tx2">
              <a:lumMod val="75000"/>
              <a:lumOff val="25000"/>
            </a:schemeClr>
          </a:solidFill>
          <a:ln w="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-72-526">
            <a:extLst>
              <a:ext uri="{FF2B5EF4-FFF2-40B4-BE49-F238E27FC236}">
                <a16:creationId xmlns:a16="http://schemas.microsoft.com/office/drawing/2014/main" id="{532DD77C-E6ED-4A25-9C85-7D08970A0AE1}"/>
              </a:ext>
            </a:extLst>
          </p:cNvPr>
          <p:cNvSpPr>
            <a:spLocks noGrp="1"/>
          </p:cNvSpPr>
          <p:nvPr/>
        </p:nvSpPr>
        <p:spPr>
          <a:xfrm>
            <a:off x="4375523" y="4298317"/>
            <a:ext cx="3561736" cy="1309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5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Team 07</a:t>
            </a:r>
            <a:endParaRPr sz="1500" dirty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50000"/>
              </a:lnSpc>
              <a:buNone/>
            </a:pPr>
            <a:r>
              <a:rPr sz="15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Maung Naing Win Kyaw  (4288602M)</a:t>
            </a:r>
          </a:p>
          <a:p>
            <a:pPr algn="ctr">
              <a:lnSpc>
                <a:spcPct val="150000"/>
              </a:lnSpc>
              <a:buNone/>
            </a:pPr>
            <a:r>
              <a:rPr sz="1500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Tha</a:t>
            </a:r>
            <a:r>
              <a:rPr sz="15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Zin Oo  (1114879N)</a:t>
            </a:r>
          </a:p>
          <a:p>
            <a:pPr algn="ctr">
              <a:lnSpc>
                <a:spcPct val="150000"/>
              </a:lnSpc>
              <a:buNone/>
            </a:pPr>
            <a:r>
              <a:rPr sz="15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Lionel Tay Choon </a:t>
            </a:r>
            <a:r>
              <a:rPr sz="1500" dirty="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Thye</a:t>
            </a:r>
            <a:r>
              <a:rPr sz="15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(5361180E)</a:t>
            </a:r>
            <a:endParaRPr sz="1500" b="0" dirty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-1190-660">
            <a:extLst>
              <a:ext uri="{FF2B5EF4-FFF2-40B4-BE49-F238E27FC236}">
                <a16:creationId xmlns:a16="http://schemas.microsoft.com/office/drawing/2014/main" id="{25C9109A-ED64-4C56-A0C7-C6C5A8E3AB79}"/>
              </a:ext>
            </a:extLst>
          </p:cNvPr>
          <p:cNvSpPr>
            <a:spLocks noGrp="1"/>
          </p:cNvSpPr>
          <p:nvPr/>
        </p:nvSpPr>
        <p:spPr>
          <a:xfrm>
            <a:off x="11434708" y="619506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0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verview-title">
            <a:extLst>
              <a:ext uri="{FF2B5EF4-FFF2-40B4-BE49-F238E27FC236}">
                <a16:creationId xmlns:a16="http://schemas.microsoft.com/office/drawing/2014/main" id="{BE50D686-15A6-4083-B567-97DF0C40E9AC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From problem definition to governed fraud detection</a:t>
            </a:r>
          </a:p>
        </p:txBody>
      </p:sp>
      <p:sp>
        <p:nvSpPr>
          <p:cNvPr id="2" name="overview-subtitle">
            <a:extLst>
              <a:ext uri="{FF2B5EF4-FFF2-40B4-BE49-F238E27FC236}">
                <a16:creationId xmlns:a16="http://schemas.microsoft.com/office/drawing/2014/main" id="{213A6C41-FC19-4785-BA17-993D21BBB35C}"/>
              </a:ext>
            </a:extLst>
          </p:cNvPr>
          <p:cNvSpPr>
            <a:spLocks noGrp="1"/>
          </p:cNvSpPr>
          <p:nvPr/>
        </p:nvSpPr>
        <p:spPr>
          <a:xfrm>
            <a:off x="485775" y="6124575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sz="1500" b="1" dirty="0">
                <a:solidFill>
                  <a:srgbClr val="2F6FED"/>
                </a:solidFill>
                <a:latin typeface="Times New Roman"/>
                <a:cs typeface="Times New Roman"/>
              </a:rPr>
              <a:t>A leakage-safe, validation-driven and reproducible ML workflow</a:t>
            </a:r>
          </a:p>
        </p:txBody>
      </p:sp>
      <p:cxnSp>
        <p:nvCxnSpPr>
          <p:cNvPr id="55" name="flow-0-0"/>
          <p:cNvCxnSpPr/>
          <p:nvPr/>
        </p:nvCxnSpPr>
        <p:spPr>
          <a:xfrm>
            <a:off x="2790825" y="24790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flow-0-1"/>
          <p:cNvCxnSpPr/>
          <p:nvPr/>
        </p:nvCxnSpPr>
        <p:spPr>
          <a:xfrm>
            <a:off x="5648325" y="24790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flow-0-2"/>
          <p:cNvCxnSpPr/>
          <p:nvPr/>
        </p:nvCxnSpPr>
        <p:spPr>
          <a:xfrm>
            <a:off x="8505825" y="24790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flow-1-0"/>
          <p:cNvCxnSpPr/>
          <p:nvPr/>
        </p:nvCxnSpPr>
        <p:spPr>
          <a:xfrm>
            <a:off x="2790825" y="49555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flow-1-1"/>
          <p:cNvCxnSpPr/>
          <p:nvPr/>
        </p:nvCxnSpPr>
        <p:spPr>
          <a:xfrm>
            <a:off x="5648325" y="49555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flow-1-2"/>
          <p:cNvCxnSpPr/>
          <p:nvPr/>
        </p:nvCxnSpPr>
        <p:spPr>
          <a:xfrm>
            <a:off x="8505825" y="4955540"/>
            <a:ext cx="5238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flow-turn"/>
          <p:cNvCxnSpPr/>
          <p:nvPr/>
        </p:nvCxnSpPr>
        <p:spPr>
          <a:xfrm>
            <a:off x="10191750" y="3460115"/>
            <a:ext cx="0" cy="52387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stage-1">
            <a:extLst>
              <a:ext uri="{FF2B5EF4-FFF2-40B4-BE49-F238E27FC236}">
                <a16:creationId xmlns:a16="http://schemas.microsoft.com/office/drawing/2014/main" id="{96EF6D0D-884D-4336-95E7-C2211275212B}"/>
              </a:ext>
            </a:extLst>
          </p:cNvPr>
          <p:cNvSpPr>
            <a:spLocks noGrp="1"/>
          </p:cNvSpPr>
          <p:nvPr/>
        </p:nvSpPr>
        <p:spPr>
          <a:xfrm>
            <a:off x="457200" y="15074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tage-accent-1">
            <a:extLst>
              <a:ext uri="{FF2B5EF4-FFF2-40B4-BE49-F238E27FC236}">
                <a16:creationId xmlns:a16="http://schemas.microsoft.com/office/drawing/2014/main" id="{2DAF2D44-E9B3-4B31-9787-828C7F129F0A}"/>
              </a:ext>
            </a:extLst>
          </p:cNvPr>
          <p:cNvSpPr>
            <a:spLocks noGrp="1"/>
          </p:cNvSpPr>
          <p:nvPr/>
        </p:nvSpPr>
        <p:spPr>
          <a:xfrm>
            <a:off x="457200" y="1507490"/>
            <a:ext cx="2333625" cy="9525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tage-number-1">
            <a:extLst>
              <a:ext uri="{FF2B5EF4-FFF2-40B4-BE49-F238E27FC236}">
                <a16:creationId xmlns:a16="http://schemas.microsoft.com/office/drawing/2014/main" id="{6A8FC806-3323-4ACB-9E4D-F2AEC9496F20}"/>
              </a:ext>
            </a:extLst>
          </p:cNvPr>
          <p:cNvSpPr>
            <a:spLocks noGrp="1"/>
          </p:cNvSpPr>
          <p:nvPr/>
        </p:nvSpPr>
        <p:spPr>
          <a:xfrm>
            <a:off x="628650" y="17360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stage-title-1">
            <a:extLst>
              <a:ext uri="{FF2B5EF4-FFF2-40B4-BE49-F238E27FC236}">
                <a16:creationId xmlns:a16="http://schemas.microsoft.com/office/drawing/2014/main" id="{2A78128A-5680-45D6-A880-F33A4CD667BD}"/>
              </a:ext>
            </a:extLst>
          </p:cNvPr>
          <p:cNvSpPr>
            <a:spLocks noGrp="1"/>
          </p:cNvSpPr>
          <p:nvPr/>
        </p:nvSpPr>
        <p:spPr>
          <a:xfrm>
            <a:off x="1009650" y="17170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Business &amp; ML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formulation</a:t>
            </a:r>
          </a:p>
        </p:txBody>
      </p:sp>
      <p:sp>
        <p:nvSpPr>
          <p:cNvPr id="14" name="stage-body-1">
            <a:extLst>
              <a:ext uri="{FF2B5EF4-FFF2-40B4-BE49-F238E27FC236}">
                <a16:creationId xmlns:a16="http://schemas.microsoft.com/office/drawing/2014/main" id="{6BE2EBF7-AF65-43A4-895B-27E549576BA3}"/>
              </a:ext>
            </a:extLst>
          </p:cNvPr>
          <p:cNvSpPr>
            <a:spLocks noGrp="1"/>
          </p:cNvSpPr>
          <p:nvPr/>
        </p:nvSpPr>
        <p:spPr>
          <a:xfrm>
            <a:off x="666750" y="25742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Binary classification;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recall within FPR limits</a:t>
            </a:r>
          </a:p>
        </p:txBody>
      </p:sp>
      <p:sp>
        <p:nvSpPr>
          <p:cNvPr id="15" name="stage-2">
            <a:extLst>
              <a:ext uri="{FF2B5EF4-FFF2-40B4-BE49-F238E27FC236}">
                <a16:creationId xmlns:a16="http://schemas.microsoft.com/office/drawing/2014/main" id="{2799B517-3BB6-4756-B38C-AF5A09CCC945}"/>
              </a:ext>
            </a:extLst>
          </p:cNvPr>
          <p:cNvSpPr>
            <a:spLocks noGrp="1"/>
          </p:cNvSpPr>
          <p:nvPr/>
        </p:nvSpPr>
        <p:spPr>
          <a:xfrm>
            <a:off x="3314700" y="15074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tage-accent-2">
            <a:extLst>
              <a:ext uri="{FF2B5EF4-FFF2-40B4-BE49-F238E27FC236}">
                <a16:creationId xmlns:a16="http://schemas.microsoft.com/office/drawing/2014/main" id="{77309115-ACFE-4223-886F-201E0073BF95}"/>
              </a:ext>
            </a:extLst>
          </p:cNvPr>
          <p:cNvSpPr>
            <a:spLocks noGrp="1"/>
          </p:cNvSpPr>
          <p:nvPr/>
        </p:nvSpPr>
        <p:spPr>
          <a:xfrm>
            <a:off x="3314700" y="1507490"/>
            <a:ext cx="2333625" cy="95250"/>
          </a:xfrm>
          <a:prstGeom prst="rect">
            <a:avLst/>
          </a:prstGeom>
          <a:solidFill>
            <a:srgbClr val="E65555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tage-number-2">
            <a:extLst>
              <a:ext uri="{FF2B5EF4-FFF2-40B4-BE49-F238E27FC236}">
                <a16:creationId xmlns:a16="http://schemas.microsoft.com/office/drawing/2014/main" id="{1F22DBE2-776A-4264-91AA-EE967E155FAC}"/>
              </a:ext>
            </a:extLst>
          </p:cNvPr>
          <p:cNvSpPr>
            <a:spLocks noGrp="1"/>
          </p:cNvSpPr>
          <p:nvPr/>
        </p:nvSpPr>
        <p:spPr>
          <a:xfrm>
            <a:off x="3486150" y="17360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stage-title-2">
            <a:extLst>
              <a:ext uri="{FF2B5EF4-FFF2-40B4-BE49-F238E27FC236}">
                <a16:creationId xmlns:a16="http://schemas.microsoft.com/office/drawing/2014/main" id="{B98F2F50-85DB-4439-AF9F-9CE883C233F6}"/>
              </a:ext>
            </a:extLst>
          </p:cNvPr>
          <p:cNvSpPr>
            <a:spLocks noGrp="1"/>
          </p:cNvSpPr>
          <p:nvPr/>
        </p:nvSpPr>
        <p:spPr>
          <a:xfrm>
            <a:off x="3867150" y="17170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Data </a:t>
            </a:r>
            <a:r>
              <a:rPr lang="en-US" sz="1650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A</a:t>
            </a:r>
            <a:r>
              <a:rPr sz="1650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udit</a:t>
            </a:r>
          </a:p>
        </p:txBody>
      </p:sp>
      <p:sp>
        <p:nvSpPr>
          <p:cNvPr id="19" name="stage-body-2">
            <a:extLst>
              <a:ext uri="{FF2B5EF4-FFF2-40B4-BE49-F238E27FC236}">
                <a16:creationId xmlns:a16="http://schemas.microsoft.com/office/drawing/2014/main" id="{A5484195-09DC-4743-8D7A-2A95CA2BFC03}"/>
              </a:ext>
            </a:extLst>
          </p:cNvPr>
          <p:cNvSpPr>
            <a:spLocks noGrp="1"/>
          </p:cNvSpPr>
          <p:nvPr/>
        </p:nvSpPr>
        <p:spPr>
          <a:xfrm>
            <a:off x="3524250" y="25742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Quality checks, imbalance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and leakage detection</a:t>
            </a:r>
          </a:p>
        </p:txBody>
      </p:sp>
      <p:sp>
        <p:nvSpPr>
          <p:cNvPr id="20" name="stage-3">
            <a:extLst>
              <a:ext uri="{FF2B5EF4-FFF2-40B4-BE49-F238E27FC236}">
                <a16:creationId xmlns:a16="http://schemas.microsoft.com/office/drawing/2014/main" id="{DC95D803-C72C-4DB4-9613-11DA210B0DAB}"/>
              </a:ext>
            </a:extLst>
          </p:cNvPr>
          <p:cNvSpPr>
            <a:spLocks noGrp="1"/>
          </p:cNvSpPr>
          <p:nvPr/>
        </p:nvSpPr>
        <p:spPr>
          <a:xfrm>
            <a:off x="6172200" y="15074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tage-accent-3">
            <a:extLst>
              <a:ext uri="{FF2B5EF4-FFF2-40B4-BE49-F238E27FC236}">
                <a16:creationId xmlns:a16="http://schemas.microsoft.com/office/drawing/2014/main" id="{132572DE-0AF5-4A72-9F6A-D3477EF0B7C1}"/>
              </a:ext>
            </a:extLst>
          </p:cNvPr>
          <p:cNvSpPr>
            <a:spLocks noGrp="1"/>
          </p:cNvSpPr>
          <p:nvPr/>
        </p:nvSpPr>
        <p:spPr>
          <a:xfrm>
            <a:off x="6172200" y="1507490"/>
            <a:ext cx="2333625" cy="95250"/>
          </a:xfrm>
          <a:prstGeom prst="rect">
            <a:avLst/>
          </a:prstGeom>
          <a:solidFill>
            <a:srgbClr val="279B7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tage-number-3">
            <a:extLst>
              <a:ext uri="{FF2B5EF4-FFF2-40B4-BE49-F238E27FC236}">
                <a16:creationId xmlns:a16="http://schemas.microsoft.com/office/drawing/2014/main" id="{3E6D2966-F9E6-4B98-9B4C-EA851CC328EB}"/>
              </a:ext>
            </a:extLst>
          </p:cNvPr>
          <p:cNvSpPr>
            <a:spLocks noGrp="1"/>
          </p:cNvSpPr>
          <p:nvPr/>
        </p:nvSpPr>
        <p:spPr>
          <a:xfrm>
            <a:off x="6343650" y="17360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9B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stage-title-3">
            <a:extLst>
              <a:ext uri="{FF2B5EF4-FFF2-40B4-BE49-F238E27FC236}">
                <a16:creationId xmlns:a16="http://schemas.microsoft.com/office/drawing/2014/main" id="{DAA051DB-DA02-4BB0-9BA3-B5541BB86601}"/>
              </a:ext>
            </a:extLst>
          </p:cNvPr>
          <p:cNvSpPr>
            <a:spLocks noGrp="1"/>
          </p:cNvSpPr>
          <p:nvPr/>
        </p:nvSpPr>
        <p:spPr>
          <a:xfrm>
            <a:off x="6724650" y="17170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Feature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24" name="stage-body-3">
            <a:extLst>
              <a:ext uri="{FF2B5EF4-FFF2-40B4-BE49-F238E27FC236}">
                <a16:creationId xmlns:a16="http://schemas.microsoft.com/office/drawing/2014/main" id="{574F8A2A-FD69-4C16-B08F-56FD1A7CD315}"/>
              </a:ext>
            </a:extLst>
          </p:cNvPr>
          <p:cNvSpPr>
            <a:spLocks noGrp="1"/>
          </p:cNvSpPr>
          <p:nvPr/>
        </p:nvSpPr>
        <p:spPr>
          <a:xfrm>
            <a:off x="6381750" y="25742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Leakage-safe time and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behavioural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features</a:t>
            </a:r>
          </a:p>
        </p:txBody>
      </p:sp>
      <p:sp>
        <p:nvSpPr>
          <p:cNvPr id="25" name="stage-4">
            <a:extLst>
              <a:ext uri="{FF2B5EF4-FFF2-40B4-BE49-F238E27FC236}">
                <a16:creationId xmlns:a16="http://schemas.microsoft.com/office/drawing/2014/main" id="{01D1C2CF-C435-4E26-9322-BA2F4C88C2B8}"/>
              </a:ext>
            </a:extLst>
          </p:cNvPr>
          <p:cNvSpPr>
            <a:spLocks noGrp="1"/>
          </p:cNvSpPr>
          <p:nvPr/>
        </p:nvSpPr>
        <p:spPr>
          <a:xfrm>
            <a:off x="9029700" y="15074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tage-accent-4">
            <a:extLst>
              <a:ext uri="{FF2B5EF4-FFF2-40B4-BE49-F238E27FC236}">
                <a16:creationId xmlns:a16="http://schemas.microsoft.com/office/drawing/2014/main" id="{A531D9D1-B456-4FE8-A722-B43EB66EEEB9}"/>
              </a:ext>
            </a:extLst>
          </p:cNvPr>
          <p:cNvSpPr>
            <a:spLocks noGrp="1"/>
          </p:cNvSpPr>
          <p:nvPr/>
        </p:nvSpPr>
        <p:spPr>
          <a:xfrm>
            <a:off x="9029700" y="1507490"/>
            <a:ext cx="2333625" cy="95250"/>
          </a:xfrm>
          <a:prstGeom prst="rect">
            <a:avLst/>
          </a:prstGeom>
          <a:solidFill>
            <a:srgbClr val="E7933D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tage-number-4">
            <a:extLst>
              <a:ext uri="{FF2B5EF4-FFF2-40B4-BE49-F238E27FC236}">
                <a16:creationId xmlns:a16="http://schemas.microsoft.com/office/drawing/2014/main" id="{0BF7C631-229A-42B6-82FA-BEDE8553DEDE}"/>
              </a:ext>
            </a:extLst>
          </p:cNvPr>
          <p:cNvSpPr>
            <a:spLocks noGrp="1"/>
          </p:cNvSpPr>
          <p:nvPr/>
        </p:nvSpPr>
        <p:spPr>
          <a:xfrm>
            <a:off x="9201150" y="17360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E793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933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stage-title-4">
            <a:extLst>
              <a:ext uri="{FF2B5EF4-FFF2-40B4-BE49-F238E27FC236}">
                <a16:creationId xmlns:a16="http://schemas.microsoft.com/office/drawing/2014/main" id="{73CDE476-ECEA-4E60-BAF5-DD777666B15F}"/>
              </a:ext>
            </a:extLst>
          </p:cNvPr>
          <p:cNvSpPr>
            <a:spLocks noGrp="1"/>
          </p:cNvSpPr>
          <p:nvPr/>
        </p:nvSpPr>
        <p:spPr>
          <a:xfrm>
            <a:off x="9582150" y="17170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Model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29" name="stage-body-4">
            <a:extLst>
              <a:ext uri="{FF2B5EF4-FFF2-40B4-BE49-F238E27FC236}">
                <a16:creationId xmlns:a16="http://schemas.microsoft.com/office/drawing/2014/main" id="{CE3080D4-095B-44E8-BFE0-8E89E2D45097}"/>
              </a:ext>
            </a:extLst>
          </p:cNvPr>
          <p:cNvSpPr>
            <a:spLocks noGrp="1"/>
          </p:cNvSpPr>
          <p:nvPr/>
        </p:nvSpPr>
        <p:spPr>
          <a:xfrm>
            <a:off x="9239250" y="25742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Logistic Regression vs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XGBoost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candidates</a:t>
            </a:r>
          </a:p>
        </p:txBody>
      </p:sp>
      <p:sp>
        <p:nvSpPr>
          <p:cNvPr id="30" name="stage-5">
            <a:extLst>
              <a:ext uri="{FF2B5EF4-FFF2-40B4-BE49-F238E27FC236}">
                <a16:creationId xmlns:a16="http://schemas.microsoft.com/office/drawing/2014/main" id="{2A9BC8F6-77A8-40E2-A1EE-136FC5A440D0}"/>
              </a:ext>
            </a:extLst>
          </p:cNvPr>
          <p:cNvSpPr>
            <a:spLocks noGrp="1"/>
          </p:cNvSpPr>
          <p:nvPr/>
        </p:nvSpPr>
        <p:spPr>
          <a:xfrm>
            <a:off x="9029700" y="39839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tage-accent-5">
            <a:extLst>
              <a:ext uri="{FF2B5EF4-FFF2-40B4-BE49-F238E27FC236}">
                <a16:creationId xmlns:a16="http://schemas.microsoft.com/office/drawing/2014/main" id="{91E65FA3-749B-4C0F-B094-336598AADBF1}"/>
              </a:ext>
            </a:extLst>
          </p:cNvPr>
          <p:cNvSpPr>
            <a:spLocks noGrp="1"/>
          </p:cNvSpPr>
          <p:nvPr/>
        </p:nvSpPr>
        <p:spPr>
          <a:xfrm>
            <a:off x="9029700" y="3983990"/>
            <a:ext cx="2333625" cy="9525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tage-number-5">
            <a:extLst>
              <a:ext uri="{FF2B5EF4-FFF2-40B4-BE49-F238E27FC236}">
                <a16:creationId xmlns:a16="http://schemas.microsoft.com/office/drawing/2014/main" id="{6A6F9E08-FEDE-4FD9-9DB6-F6F027FF9614}"/>
              </a:ext>
            </a:extLst>
          </p:cNvPr>
          <p:cNvSpPr>
            <a:spLocks noGrp="1"/>
          </p:cNvSpPr>
          <p:nvPr/>
        </p:nvSpPr>
        <p:spPr>
          <a:xfrm>
            <a:off x="9201150" y="42125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stage-title-5">
            <a:extLst>
              <a:ext uri="{FF2B5EF4-FFF2-40B4-BE49-F238E27FC236}">
                <a16:creationId xmlns:a16="http://schemas.microsoft.com/office/drawing/2014/main" id="{F1A1E865-7A4C-48A2-AD84-FA0255226C9B}"/>
              </a:ext>
            </a:extLst>
          </p:cNvPr>
          <p:cNvSpPr>
            <a:spLocks noGrp="1"/>
          </p:cNvSpPr>
          <p:nvPr/>
        </p:nvSpPr>
        <p:spPr>
          <a:xfrm>
            <a:off x="9582150" y="41935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Champion &amp;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threshold</a:t>
            </a:r>
          </a:p>
        </p:txBody>
      </p:sp>
      <p:sp>
        <p:nvSpPr>
          <p:cNvPr id="34" name="stage-body-5">
            <a:extLst>
              <a:ext uri="{FF2B5EF4-FFF2-40B4-BE49-F238E27FC236}">
                <a16:creationId xmlns:a16="http://schemas.microsoft.com/office/drawing/2014/main" id="{4CC6A57D-9373-4908-8C1F-06D256D0364D}"/>
              </a:ext>
            </a:extLst>
          </p:cNvPr>
          <p:cNvSpPr>
            <a:spLocks noGrp="1"/>
          </p:cNvSpPr>
          <p:nvPr/>
        </p:nvSpPr>
        <p:spPr>
          <a:xfrm>
            <a:off x="9239250" y="50507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Select XGBoost; freeze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threshold on validation</a:t>
            </a:r>
          </a:p>
        </p:txBody>
      </p:sp>
      <p:sp>
        <p:nvSpPr>
          <p:cNvPr id="35" name="stage-6">
            <a:extLst>
              <a:ext uri="{FF2B5EF4-FFF2-40B4-BE49-F238E27FC236}">
                <a16:creationId xmlns:a16="http://schemas.microsoft.com/office/drawing/2014/main" id="{C6929C86-6360-4158-B43B-9BBF597E5909}"/>
              </a:ext>
            </a:extLst>
          </p:cNvPr>
          <p:cNvSpPr>
            <a:spLocks noGrp="1"/>
          </p:cNvSpPr>
          <p:nvPr/>
        </p:nvSpPr>
        <p:spPr>
          <a:xfrm>
            <a:off x="6172200" y="39839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stage-accent-6">
            <a:extLst>
              <a:ext uri="{FF2B5EF4-FFF2-40B4-BE49-F238E27FC236}">
                <a16:creationId xmlns:a16="http://schemas.microsoft.com/office/drawing/2014/main" id="{88AB7862-4C4A-44A8-8DAC-9D5CA73E6B5B}"/>
              </a:ext>
            </a:extLst>
          </p:cNvPr>
          <p:cNvSpPr>
            <a:spLocks noGrp="1"/>
          </p:cNvSpPr>
          <p:nvPr/>
        </p:nvSpPr>
        <p:spPr>
          <a:xfrm>
            <a:off x="6172200" y="3983990"/>
            <a:ext cx="2333625" cy="95250"/>
          </a:xfrm>
          <a:prstGeom prst="rect">
            <a:avLst/>
          </a:prstGeom>
          <a:solidFill>
            <a:srgbClr val="279B72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tage-number-6">
            <a:extLst>
              <a:ext uri="{FF2B5EF4-FFF2-40B4-BE49-F238E27FC236}">
                <a16:creationId xmlns:a16="http://schemas.microsoft.com/office/drawing/2014/main" id="{24C4DCD6-EAE1-4BB9-B9BC-1EA6086C64AE}"/>
              </a:ext>
            </a:extLst>
          </p:cNvPr>
          <p:cNvSpPr>
            <a:spLocks noGrp="1"/>
          </p:cNvSpPr>
          <p:nvPr/>
        </p:nvSpPr>
        <p:spPr>
          <a:xfrm>
            <a:off x="6343650" y="42125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9B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stage-title-6">
            <a:extLst>
              <a:ext uri="{FF2B5EF4-FFF2-40B4-BE49-F238E27FC236}">
                <a16:creationId xmlns:a16="http://schemas.microsoft.com/office/drawing/2014/main" id="{3B3F76E6-CEF0-423F-A5A0-2D0B8772162D}"/>
              </a:ext>
            </a:extLst>
          </p:cNvPr>
          <p:cNvSpPr>
            <a:spLocks noGrp="1"/>
          </p:cNvSpPr>
          <p:nvPr/>
        </p:nvSpPr>
        <p:spPr>
          <a:xfrm>
            <a:off x="6724650" y="41935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MLOps pipeline</a:t>
            </a:r>
          </a:p>
        </p:txBody>
      </p:sp>
      <p:sp>
        <p:nvSpPr>
          <p:cNvPr id="39" name="stage-body-6">
            <a:extLst>
              <a:ext uri="{FF2B5EF4-FFF2-40B4-BE49-F238E27FC236}">
                <a16:creationId xmlns:a16="http://schemas.microsoft.com/office/drawing/2014/main" id="{51E9BE13-114A-401E-8806-CD007B4A8560}"/>
              </a:ext>
            </a:extLst>
          </p:cNvPr>
          <p:cNvSpPr>
            <a:spLocks noGrp="1"/>
          </p:cNvSpPr>
          <p:nvPr/>
        </p:nvSpPr>
        <p:spPr>
          <a:xfrm>
            <a:off x="6381750" y="50507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 err="1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MLflow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tracking and</a:t>
            </a:r>
          </a:p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SageMaker registration</a:t>
            </a:r>
          </a:p>
        </p:txBody>
      </p:sp>
      <p:sp>
        <p:nvSpPr>
          <p:cNvPr id="40" name="stage-7">
            <a:extLst>
              <a:ext uri="{FF2B5EF4-FFF2-40B4-BE49-F238E27FC236}">
                <a16:creationId xmlns:a16="http://schemas.microsoft.com/office/drawing/2014/main" id="{D3DB329A-118F-40A0-A9D7-E823D759DF19}"/>
              </a:ext>
            </a:extLst>
          </p:cNvPr>
          <p:cNvSpPr>
            <a:spLocks noGrp="1"/>
          </p:cNvSpPr>
          <p:nvPr/>
        </p:nvSpPr>
        <p:spPr>
          <a:xfrm>
            <a:off x="3314700" y="39839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tage-accent-7">
            <a:extLst>
              <a:ext uri="{FF2B5EF4-FFF2-40B4-BE49-F238E27FC236}">
                <a16:creationId xmlns:a16="http://schemas.microsoft.com/office/drawing/2014/main" id="{715805CC-9547-4281-A453-2DEBD2A03A07}"/>
              </a:ext>
            </a:extLst>
          </p:cNvPr>
          <p:cNvSpPr>
            <a:spLocks noGrp="1"/>
          </p:cNvSpPr>
          <p:nvPr/>
        </p:nvSpPr>
        <p:spPr>
          <a:xfrm>
            <a:off x="3314700" y="3983990"/>
            <a:ext cx="2333625" cy="95250"/>
          </a:xfrm>
          <a:prstGeom prst="rect">
            <a:avLst/>
          </a:prstGeom>
          <a:solidFill>
            <a:srgbClr val="E65555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stage-number-7">
            <a:extLst>
              <a:ext uri="{FF2B5EF4-FFF2-40B4-BE49-F238E27FC236}">
                <a16:creationId xmlns:a16="http://schemas.microsoft.com/office/drawing/2014/main" id="{B4D04F8E-FCEA-4719-BE4F-BE241577757F}"/>
              </a:ext>
            </a:extLst>
          </p:cNvPr>
          <p:cNvSpPr>
            <a:spLocks noGrp="1"/>
          </p:cNvSpPr>
          <p:nvPr/>
        </p:nvSpPr>
        <p:spPr>
          <a:xfrm>
            <a:off x="3486150" y="42125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stage-title-7">
            <a:extLst>
              <a:ext uri="{FF2B5EF4-FFF2-40B4-BE49-F238E27FC236}">
                <a16:creationId xmlns:a16="http://schemas.microsoft.com/office/drawing/2014/main" id="{72DE19D3-9ED7-4EFA-BFB0-A227ECCCAE07}"/>
              </a:ext>
            </a:extLst>
          </p:cNvPr>
          <p:cNvSpPr>
            <a:spLocks noGrp="1"/>
          </p:cNvSpPr>
          <p:nvPr/>
        </p:nvSpPr>
        <p:spPr>
          <a:xfrm>
            <a:off x="3867150" y="41935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Testing &amp;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44" name="stage-body-7">
            <a:extLst>
              <a:ext uri="{FF2B5EF4-FFF2-40B4-BE49-F238E27FC236}">
                <a16:creationId xmlns:a16="http://schemas.microsoft.com/office/drawing/2014/main" id="{8E8BB6A4-D1F8-4DC6-8C85-9F4B27B67612}"/>
              </a:ext>
            </a:extLst>
          </p:cNvPr>
          <p:cNvSpPr>
            <a:spLocks noGrp="1"/>
          </p:cNvSpPr>
          <p:nvPr/>
        </p:nvSpPr>
        <p:spPr>
          <a:xfrm>
            <a:off x="3524249" y="5050790"/>
            <a:ext cx="2124076" cy="6165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lang="en-US"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Unseen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test</a:t>
            </a:r>
            <a:r>
              <a:rPr lang="en-US"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dataset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 quality gates</a:t>
            </a:r>
            <a:r>
              <a:rPr lang="en-US"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and manual approval</a:t>
            </a:r>
          </a:p>
        </p:txBody>
      </p:sp>
      <p:sp>
        <p:nvSpPr>
          <p:cNvPr id="45" name="stage-8">
            <a:extLst>
              <a:ext uri="{FF2B5EF4-FFF2-40B4-BE49-F238E27FC236}">
                <a16:creationId xmlns:a16="http://schemas.microsoft.com/office/drawing/2014/main" id="{D5F45709-95F4-4E6C-B794-F7BF3B664D64}"/>
              </a:ext>
            </a:extLst>
          </p:cNvPr>
          <p:cNvSpPr>
            <a:spLocks noGrp="1"/>
          </p:cNvSpPr>
          <p:nvPr/>
        </p:nvSpPr>
        <p:spPr>
          <a:xfrm>
            <a:off x="457200" y="3983990"/>
            <a:ext cx="2333625" cy="1952625"/>
          </a:xfrm>
          <a:prstGeom prst="roundRect">
            <a:avLst>
              <a:gd name="adj" fmla="val 390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stage-accent-8">
            <a:extLst>
              <a:ext uri="{FF2B5EF4-FFF2-40B4-BE49-F238E27FC236}">
                <a16:creationId xmlns:a16="http://schemas.microsoft.com/office/drawing/2014/main" id="{B15D38E8-2F52-415D-9F2D-7209535C299F}"/>
              </a:ext>
            </a:extLst>
          </p:cNvPr>
          <p:cNvSpPr>
            <a:spLocks noGrp="1"/>
          </p:cNvSpPr>
          <p:nvPr/>
        </p:nvSpPr>
        <p:spPr>
          <a:xfrm>
            <a:off x="457200" y="3983990"/>
            <a:ext cx="2333625" cy="9525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stage-number-8">
            <a:extLst>
              <a:ext uri="{FF2B5EF4-FFF2-40B4-BE49-F238E27FC236}">
                <a16:creationId xmlns:a16="http://schemas.microsoft.com/office/drawing/2014/main" id="{EBA80EE3-40AD-4F8E-B877-3D2022D792A7}"/>
              </a:ext>
            </a:extLst>
          </p:cNvPr>
          <p:cNvSpPr>
            <a:spLocks noGrp="1"/>
          </p:cNvSpPr>
          <p:nvPr/>
        </p:nvSpPr>
        <p:spPr>
          <a:xfrm>
            <a:off x="628650" y="421259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stage-title-8">
            <a:extLst>
              <a:ext uri="{FF2B5EF4-FFF2-40B4-BE49-F238E27FC236}">
                <a16:creationId xmlns:a16="http://schemas.microsoft.com/office/drawing/2014/main" id="{5AB78293-DCA3-4951-9D9C-136ADDC7AD75}"/>
              </a:ext>
            </a:extLst>
          </p:cNvPr>
          <p:cNvSpPr>
            <a:spLocks noGrp="1"/>
          </p:cNvSpPr>
          <p:nvPr/>
        </p:nvSpPr>
        <p:spPr>
          <a:xfrm>
            <a:off x="1009650" y="4193540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Deployment &amp;</a:t>
            </a:r>
          </a:p>
          <a:p>
            <a:pPr algn="l">
              <a:defRPr sz="16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artifacts</a:t>
            </a:r>
          </a:p>
        </p:txBody>
      </p:sp>
      <p:sp>
        <p:nvSpPr>
          <p:cNvPr id="49" name="stage-body-8">
            <a:extLst>
              <a:ext uri="{FF2B5EF4-FFF2-40B4-BE49-F238E27FC236}">
                <a16:creationId xmlns:a16="http://schemas.microsoft.com/office/drawing/2014/main" id="{9F971AB3-1FDC-4529-B331-4AA9CA6C3572}"/>
              </a:ext>
            </a:extLst>
          </p:cNvPr>
          <p:cNvSpPr>
            <a:spLocks noGrp="1"/>
          </p:cNvSpPr>
          <p:nvPr/>
        </p:nvSpPr>
        <p:spPr>
          <a:xfrm>
            <a:off x="666750" y="5050790"/>
            <a:ext cx="1924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Endpoint, application, logs</a:t>
            </a:r>
            <a:r>
              <a:rPr lang="en-US"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and versioned outputs</a:t>
            </a:r>
          </a:p>
        </p:txBody>
      </p:sp>
      <p:sp>
        <p:nvSpPr>
          <p:cNvPr id="50" name="phase-development">
            <a:extLst>
              <a:ext uri="{FF2B5EF4-FFF2-40B4-BE49-F238E27FC236}">
                <a16:creationId xmlns:a16="http://schemas.microsoft.com/office/drawing/2014/main" id="{DDAED88A-8F16-4F67-86DB-0764F56C5DA7}"/>
              </a:ext>
            </a:extLst>
          </p:cNvPr>
          <p:cNvSpPr>
            <a:spLocks noGrp="1"/>
          </p:cNvSpPr>
          <p:nvPr/>
        </p:nvSpPr>
        <p:spPr>
          <a:xfrm>
            <a:off x="457200" y="122174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300" b="1" dirty="0">
                <a:solidFill>
                  <a:srgbClr val="2F6FED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51" name="phase-operations">
            <a:extLst>
              <a:ext uri="{FF2B5EF4-FFF2-40B4-BE49-F238E27FC236}">
                <a16:creationId xmlns:a16="http://schemas.microsoft.com/office/drawing/2014/main" id="{8514E601-EF0C-4D99-B48C-A51CA7E88EE9}"/>
              </a:ext>
            </a:extLst>
          </p:cNvPr>
          <p:cNvSpPr>
            <a:spLocks noGrp="1"/>
          </p:cNvSpPr>
          <p:nvPr/>
        </p:nvSpPr>
        <p:spPr>
          <a:xfrm>
            <a:off x="457200" y="369824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E6555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OPERATIONALIZATION &amp; GOVERNANCE</a:t>
            </a:r>
          </a:p>
        </p:txBody>
      </p:sp>
      <p:sp>
        <p:nvSpPr>
          <p:cNvPr id="52" name="page-number">
            <a:extLst>
              <a:ext uri="{FF2B5EF4-FFF2-40B4-BE49-F238E27FC236}">
                <a16:creationId xmlns:a16="http://schemas.microsoft.com/office/drawing/2014/main" id="{01BD3DC4-8A2A-4130-B483-D6786A9F357E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821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-48-32">
            <a:extLst>
              <a:ext uri="{FF2B5EF4-FFF2-40B4-BE49-F238E27FC236}">
                <a16:creationId xmlns:a16="http://schemas.microsoft.com/office/drawing/2014/main" id="{3FD4C391-95F0-4BD8-8332-E6571D70FD77}"/>
              </a:ext>
            </a:extLst>
          </p:cNvPr>
          <p:cNvSpPr>
            <a:spLocks noGrp="1"/>
          </p:cNvSpPr>
          <p:nvPr/>
        </p:nvSpPr>
        <p:spPr>
          <a:xfrm>
            <a:off x="457199" y="330926"/>
            <a:ext cx="11191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buNone/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SG" sz="2925" b="1" dirty="0">
                <a:solidFill>
                  <a:srgbClr val="10233E"/>
                </a:solidFill>
                <a:latin typeface="Arial"/>
              </a:rPr>
              <a:t>Business &amp; ML formulation</a:t>
            </a:r>
            <a:endParaRPr sz="2800" b="1" dirty="0">
              <a:solidFill>
                <a:srgbClr val="10233E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624CD909-9B37-4F30-9091-1D627A3CD103}"/>
              </a:ext>
            </a:extLst>
          </p:cNvPr>
          <p:cNvSpPr>
            <a:spLocks noGrp="1"/>
          </p:cNvSpPr>
          <p:nvPr/>
        </p:nvSpPr>
        <p:spPr>
          <a:xfrm>
            <a:off x="11456670" y="61753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48-128">
            <a:extLst>
              <a:ext uri="{FF2B5EF4-FFF2-40B4-BE49-F238E27FC236}">
                <a16:creationId xmlns:a16="http://schemas.microsoft.com/office/drawing/2014/main" id="{05F665E7-E938-4DCC-8852-ECFC7ADA196F}"/>
              </a:ext>
            </a:extLst>
          </p:cNvPr>
          <p:cNvSpPr>
            <a:spLocks noGrp="1"/>
          </p:cNvSpPr>
          <p:nvPr/>
        </p:nvSpPr>
        <p:spPr>
          <a:xfrm>
            <a:off x="457200" y="1127494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5555"/>
                </a:solidFill>
                <a:latin typeface="Times New Roman"/>
                <a:ea typeface="Times New Roman"/>
                <a:cs typeface="Times New Roman"/>
              </a:rPr>
              <a:t>BUSINESS PROBLEM</a:t>
            </a:r>
          </a:p>
        </p:txBody>
      </p:sp>
      <p:sp>
        <p:nvSpPr>
          <p:cNvPr id="4" name="text-48-166">
            <a:extLst>
              <a:ext uri="{FF2B5EF4-FFF2-40B4-BE49-F238E27FC236}">
                <a16:creationId xmlns:a16="http://schemas.microsoft.com/office/drawing/2014/main" id="{004D3576-A2E5-4C26-B166-16F37008AE67}"/>
              </a:ext>
            </a:extLst>
          </p:cNvPr>
          <p:cNvSpPr>
            <a:spLocks noGrp="1"/>
          </p:cNvSpPr>
          <p:nvPr/>
        </p:nvSpPr>
        <p:spPr>
          <a:xfrm>
            <a:off x="457200" y="1518019"/>
            <a:ext cx="4667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Identify risky card transactions early enough to support review or intervention—without overwhelming legitimate customers with false alerts.</a:t>
            </a:r>
          </a:p>
        </p:txBody>
      </p:sp>
      <p:sp>
        <p:nvSpPr>
          <p:cNvPr id="5" name="box-590-125">
            <a:extLst>
              <a:ext uri="{FF2B5EF4-FFF2-40B4-BE49-F238E27FC236}">
                <a16:creationId xmlns:a16="http://schemas.microsoft.com/office/drawing/2014/main" id="{E5633C23-3771-4233-987F-E9713BBF5FCB}"/>
              </a:ext>
            </a:extLst>
          </p:cNvPr>
          <p:cNvSpPr>
            <a:spLocks noGrp="1"/>
          </p:cNvSpPr>
          <p:nvPr/>
        </p:nvSpPr>
        <p:spPr>
          <a:xfrm>
            <a:off x="5216975" y="1394193"/>
            <a:ext cx="6096000" cy="1619250"/>
          </a:xfrm>
          <a:prstGeom prst="roundRect">
            <a:avLst>
              <a:gd name="adj" fmla="val 421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-620-151">
            <a:extLst>
              <a:ext uri="{FF2B5EF4-FFF2-40B4-BE49-F238E27FC236}">
                <a16:creationId xmlns:a16="http://schemas.microsoft.com/office/drawing/2014/main" id="{0E14FCE6-E380-4DC5-9801-B3D3B9F99711}"/>
              </a:ext>
            </a:extLst>
          </p:cNvPr>
          <p:cNvSpPr>
            <a:spLocks noGrp="1"/>
          </p:cNvSpPr>
          <p:nvPr/>
        </p:nvSpPr>
        <p:spPr>
          <a:xfrm>
            <a:off x="5502725" y="1697362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Binary classification</a:t>
            </a:r>
          </a:p>
        </p:txBody>
      </p:sp>
      <p:sp>
        <p:nvSpPr>
          <p:cNvPr id="7" name="text-620-194">
            <a:extLst>
              <a:ext uri="{FF2B5EF4-FFF2-40B4-BE49-F238E27FC236}">
                <a16:creationId xmlns:a16="http://schemas.microsoft.com/office/drawing/2014/main" id="{554A2A68-7902-4948-A78C-E4B21E4CA605}"/>
              </a:ext>
            </a:extLst>
          </p:cNvPr>
          <p:cNvSpPr>
            <a:spLocks noGrp="1"/>
          </p:cNvSpPr>
          <p:nvPr/>
        </p:nvSpPr>
        <p:spPr>
          <a:xfrm>
            <a:off x="5502725" y="2106937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4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Fraud vs non-fraud probability</a:t>
            </a:r>
          </a:p>
        </p:txBody>
      </p:sp>
      <p:sp>
        <p:nvSpPr>
          <p:cNvPr id="8" name="text-930-151">
            <a:extLst>
              <a:ext uri="{FF2B5EF4-FFF2-40B4-BE49-F238E27FC236}">
                <a16:creationId xmlns:a16="http://schemas.microsoft.com/office/drawing/2014/main" id="{858249FF-8DA0-4509-8D70-08F2B1E73168}"/>
              </a:ext>
            </a:extLst>
          </p:cNvPr>
          <p:cNvSpPr>
            <a:spLocks noGrp="1"/>
          </p:cNvSpPr>
          <p:nvPr/>
        </p:nvSpPr>
        <p:spPr>
          <a:xfrm>
            <a:off x="8455475" y="1697362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65555"/>
                </a:solidFill>
                <a:latin typeface="Times New Roman"/>
                <a:ea typeface="Times New Roman"/>
                <a:cs typeface="Times New Roman"/>
              </a:rPr>
              <a:t>Operating constraint</a:t>
            </a:r>
          </a:p>
        </p:txBody>
      </p:sp>
      <p:sp>
        <p:nvSpPr>
          <p:cNvPr id="9" name="text-930-194">
            <a:extLst>
              <a:ext uri="{FF2B5EF4-FFF2-40B4-BE49-F238E27FC236}">
                <a16:creationId xmlns:a16="http://schemas.microsoft.com/office/drawing/2014/main" id="{9F87E1A7-5D64-4B55-8DDE-5BA5FE749CD7}"/>
              </a:ext>
            </a:extLst>
          </p:cNvPr>
          <p:cNvSpPr>
            <a:spLocks noGrp="1"/>
          </p:cNvSpPr>
          <p:nvPr/>
        </p:nvSpPr>
        <p:spPr>
          <a:xfrm>
            <a:off x="8455475" y="2106937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42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Max false-positive rate: 5%</a:t>
            </a:r>
          </a:p>
        </p:txBody>
      </p:sp>
      <p:sp>
        <p:nvSpPr>
          <p:cNvPr id="10" name="text-48-365">
            <a:extLst>
              <a:ext uri="{FF2B5EF4-FFF2-40B4-BE49-F238E27FC236}">
                <a16:creationId xmlns:a16="http://schemas.microsoft.com/office/drawing/2014/main" id="{FE9466DE-3849-459D-8238-9E6C6A8CF5E3}"/>
              </a:ext>
            </a:extLst>
          </p:cNvPr>
          <p:cNvSpPr>
            <a:spLocks noGrp="1"/>
          </p:cNvSpPr>
          <p:nvPr/>
        </p:nvSpPr>
        <p:spPr>
          <a:xfrm>
            <a:off x="457200" y="3293746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DECISION LOGIC</a:t>
            </a:r>
            <a:endParaRPr sz="1400" b="1" dirty="0">
              <a:solidFill>
                <a:srgbClr val="10233E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1" name="box-48-420">
            <a:extLst>
              <a:ext uri="{FF2B5EF4-FFF2-40B4-BE49-F238E27FC236}">
                <a16:creationId xmlns:a16="http://schemas.microsoft.com/office/drawing/2014/main" id="{1EEEC9AF-2D25-432C-BF12-535964A053CB}"/>
              </a:ext>
            </a:extLst>
          </p:cNvPr>
          <p:cNvSpPr>
            <a:spLocks noGrp="1"/>
          </p:cNvSpPr>
          <p:nvPr/>
        </p:nvSpPr>
        <p:spPr>
          <a:xfrm>
            <a:off x="457200" y="3608614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-66-438">
            <a:extLst>
              <a:ext uri="{FF2B5EF4-FFF2-40B4-BE49-F238E27FC236}">
                <a16:creationId xmlns:a16="http://schemas.microsoft.com/office/drawing/2014/main" id="{16751622-8EAC-40B2-954E-6CEE08C4A84F}"/>
              </a:ext>
            </a:extLst>
          </p:cNvPr>
          <p:cNvSpPr>
            <a:spLocks noGrp="1"/>
          </p:cNvSpPr>
          <p:nvPr/>
        </p:nvSpPr>
        <p:spPr>
          <a:xfrm>
            <a:off x="628650" y="3989071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-116-438">
            <a:extLst>
              <a:ext uri="{FF2B5EF4-FFF2-40B4-BE49-F238E27FC236}">
                <a16:creationId xmlns:a16="http://schemas.microsoft.com/office/drawing/2014/main" id="{E663D634-A570-484E-8857-B1FED488DFC0}"/>
              </a:ext>
            </a:extLst>
          </p:cNvPr>
          <p:cNvSpPr>
            <a:spLocks noGrp="1"/>
          </p:cNvSpPr>
          <p:nvPr/>
        </p:nvSpPr>
        <p:spPr>
          <a:xfrm>
            <a:off x="1104900" y="3989071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4" name="text-116-485">
            <a:extLst>
              <a:ext uri="{FF2B5EF4-FFF2-40B4-BE49-F238E27FC236}">
                <a16:creationId xmlns:a16="http://schemas.microsoft.com/office/drawing/2014/main" id="{DB7CF058-4234-4BE5-9699-54257427EFB6}"/>
              </a:ext>
            </a:extLst>
          </p:cNvPr>
          <p:cNvSpPr>
            <a:spLocks noGrp="1"/>
          </p:cNvSpPr>
          <p:nvPr/>
        </p:nvSpPr>
        <p:spPr>
          <a:xfrm>
            <a:off x="1104900" y="4436746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Predict fraud probability</a:t>
            </a:r>
          </a:p>
        </p:txBody>
      </p:sp>
      <p:sp>
        <p:nvSpPr>
          <p:cNvPr id="15" name="box-442-420">
            <a:extLst>
              <a:ext uri="{FF2B5EF4-FFF2-40B4-BE49-F238E27FC236}">
                <a16:creationId xmlns:a16="http://schemas.microsoft.com/office/drawing/2014/main" id="{941B8FB7-011E-4D5C-BB9C-43D2DBDB58D9}"/>
              </a:ext>
            </a:extLst>
          </p:cNvPr>
          <p:cNvSpPr>
            <a:spLocks noGrp="1"/>
          </p:cNvSpPr>
          <p:nvPr/>
        </p:nvSpPr>
        <p:spPr>
          <a:xfrm>
            <a:off x="4210050" y="3608614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-460-438">
            <a:extLst>
              <a:ext uri="{FF2B5EF4-FFF2-40B4-BE49-F238E27FC236}">
                <a16:creationId xmlns:a16="http://schemas.microsoft.com/office/drawing/2014/main" id="{63C59AC4-BC08-40ED-A8A8-B2BDB18C458F}"/>
              </a:ext>
            </a:extLst>
          </p:cNvPr>
          <p:cNvSpPr>
            <a:spLocks noGrp="1"/>
          </p:cNvSpPr>
          <p:nvPr/>
        </p:nvSpPr>
        <p:spPr>
          <a:xfrm>
            <a:off x="4381500" y="3989071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-510-438">
            <a:extLst>
              <a:ext uri="{FF2B5EF4-FFF2-40B4-BE49-F238E27FC236}">
                <a16:creationId xmlns:a16="http://schemas.microsoft.com/office/drawing/2014/main" id="{371124F5-F495-4667-B850-48D5574CD831}"/>
              </a:ext>
            </a:extLst>
          </p:cNvPr>
          <p:cNvSpPr>
            <a:spLocks noGrp="1"/>
          </p:cNvSpPr>
          <p:nvPr/>
        </p:nvSpPr>
        <p:spPr>
          <a:xfrm>
            <a:off x="4857750" y="3989071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Threshold</a:t>
            </a:r>
          </a:p>
        </p:txBody>
      </p:sp>
      <p:sp>
        <p:nvSpPr>
          <p:cNvPr id="18" name="text-510-485">
            <a:extLst>
              <a:ext uri="{FF2B5EF4-FFF2-40B4-BE49-F238E27FC236}">
                <a16:creationId xmlns:a16="http://schemas.microsoft.com/office/drawing/2014/main" id="{53EDBBAD-92C9-41B9-8C71-7389AE8C7DCD}"/>
              </a:ext>
            </a:extLst>
          </p:cNvPr>
          <p:cNvSpPr>
            <a:spLocks noGrp="1"/>
          </p:cNvSpPr>
          <p:nvPr/>
        </p:nvSpPr>
        <p:spPr>
          <a:xfrm>
            <a:off x="4857750" y="4436746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Freeze on validation only</a:t>
            </a:r>
          </a:p>
        </p:txBody>
      </p:sp>
      <p:sp>
        <p:nvSpPr>
          <p:cNvPr id="19" name="box-836-420">
            <a:extLst>
              <a:ext uri="{FF2B5EF4-FFF2-40B4-BE49-F238E27FC236}">
                <a16:creationId xmlns:a16="http://schemas.microsoft.com/office/drawing/2014/main" id="{12EDEB48-5408-4F09-87C9-D3460A0EA625}"/>
              </a:ext>
            </a:extLst>
          </p:cNvPr>
          <p:cNvSpPr>
            <a:spLocks noGrp="1"/>
          </p:cNvSpPr>
          <p:nvPr/>
        </p:nvSpPr>
        <p:spPr>
          <a:xfrm>
            <a:off x="7962900" y="3608614"/>
            <a:ext cx="3333750" cy="1619250"/>
          </a:xfrm>
          <a:prstGeom prst="roundRect">
            <a:avLst>
              <a:gd name="adj" fmla="val 4706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-854-438">
            <a:extLst>
              <a:ext uri="{FF2B5EF4-FFF2-40B4-BE49-F238E27FC236}">
                <a16:creationId xmlns:a16="http://schemas.microsoft.com/office/drawing/2014/main" id="{7D471155-82A8-4B54-9C65-700B951D523B}"/>
              </a:ext>
            </a:extLst>
          </p:cNvPr>
          <p:cNvSpPr>
            <a:spLocks noGrp="1"/>
          </p:cNvSpPr>
          <p:nvPr/>
        </p:nvSpPr>
        <p:spPr>
          <a:xfrm>
            <a:off x="8134350" y="3989071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-904-438">
            <a:extLst>
              <a:ext uri="{FF2B5EF4-FFF2-40B4-BE49-F238E27FC236}">
                <a16:creationId xmlns:a16="http://schemas.microsoft.com/office/drawing/2014/main" id="{E42E1033-C47F-4190-81D2-F38DCCCC979E}"/>
              </a:ext>
            </a:extLst>
          </p:cNvPr>
          <p:cNvSpPr>
            <a:spLocks noGrp="1"/>
          </p:cNvSpPr>
          <p:nvPr/>
        </p:nvSpPr>
        <p:spPr>
          <a:xfrm>
            <a:off x="8610600" y="3989071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 lnSpcReduction="10000"/>
          </a:bodyPr>
          <a:lstStyle/>
          <a:p>
            <a:pPr algn="l">
              <a:buNone/>
              <a:defRPr sz="180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2" name="text-904-485">
            <a:extLst>
              <a:ext uri="{FF2B5EF4-FFF2-40B4-BE49-F238E27FC236}">
                <a16:creationId xmlns:a16="http://schemas.microsoft.com/office/drawing/2014/main" id="{59F03A92-88BE-4963-A312-0C02CD1889E7}"/>
              </a:ext>
            </a:extLst>
          </p:cNvPr>
          <p:cNvSpPr>
            <a:spLocks noGrp="1"/>
          </p:cNvSpPr>
          <p:nvPr/>
        </p:nvSpPr>
        <p:spPr>
          <a:xfrm>
            <a:off x="8610600" y="4436746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Alert if p ≥ 0.1947</a:t>
            </a:r>
          </a:p>
        </p:txBody>
      </p:sp>
      <p:sp>
        <p:nvSpPr>
          <p:cNvPr id="23" name="text-48-625">
            <a:extLst>
              <a:ext uri="{FF2B5EF4-FFF2-40B4-BE49-F238E27FC236}">
                <a16:creationId xmlns:a16="http://schemas.microsoft.com/office/drawing/2014/main" id="{468943A9-038B-44B4-B69C-C0C7092A4A45}"/>
              </a:ext>
            </a:extLst>
          </p:cNvPr>
          <p:cNvSpPr>
            <a:spLocks noGrp="1"/>
          </p:cNvSpPr>
          <p:nvPr/>
        </p:nvSpPr>
        <p:spPr>
          <a:xfrm>
            <a:off x="457200" y="5973445"/>
            <a:ext cx="1019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Primary metric: Maximize Fraud Recall subject to a validation FPR budget.</a:t>
            </a:r>
          </a:p>
        </p:txBody>
      </p:sp>
    </p:spTree>
    <p:extLst>
      <p:ext uri="{BB962C8B-B14F-4D97-AF65-F5344CB8AC3E}">
        <p14:creationId xmlns:p14="http://schemas.microsoft.com/office/powerpoint/2010/main" val="170003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48-32">
            <a:extLst>
              <a:ext uri="{FF2B5EF4-FFF2-40B4-BE49-F238E27FC236}">
                <a16:creationId xmlns:a16="http://schemas.microsoft.com/office/drawing/2014/main" id="{DC7D80CC-4543-4AF1-AAD3-E0343E0F6803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US" sz="2925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Target leakage and data-quality findings</a:t>
            </a:r>
            <a:endParaRPr sz="2925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5520CC45-2CEE-4C31-B48C-650576706584}"/>
              </a:ext>
            </a:extLst>
          </p:cNvPr>
          <p:cNvSpPr>
            <a:spLocks noGrp="1"/>
          </p:cNvSpPr>
          <p:nvPr/>
        </p:nvSpPr>
        <p:spPr>
          <a:xfrm>
            <a:off x="11410953" y="617643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8" name="Picture 15"/>
          <p:cNvPicPr>
            <a:picLocks noChangeAspect="1"/>
          </p:cNvPicPr>
          <p:nvPr/>
        </p:nvPicPr>
        <p:blipFill>
          <a:blip r:embed="rId3"/>
          <a:srcRect l="3363" r="11388"/>
          <a:stretch>
            <a:fillRect/>
          </a:stretch>
        </p:blipFill>
        <p:spPr>
          <a:xfrm>
            <a:off x="5299710" y="1011075"/>
            <a:ext cx="6689090" cy="4560464"/>
          </a:xfrm>
          <a:prstGeom prst="rect">
            <a:avLst/>
          </a:prstGeom>
        </p:spPr>
      </p:pic>
      <p:sp>
        <p:nvSpPr>
          <p:cNvPr id="4" name="box-700-126">
            <a:extLst>
              <a:ext uri="{FF2B5EF4-FFF2-40B4-BE49-F238E27FC236}">
                <a16:creationId xmlns:a16="http://schemas.microsoft.com/office/drawing/2014/main" id="{F0CC6390-3EC6-4E9F-BD86-16CF414B8D57}"/>
              </a:ext>
            </a:extLst>
          </p:cNvPr>
          <p:cNvSpPr>
            <a:spLocks noGrp="1"/>
          </p:cNvSpPr>
          <p:nvPr/>
        </p:nvSpPr>
        <p:spPr>
          <a:xfrm>
            <a:off x="518160" y="1179646"/>
            <a:ext cx="4523740" cy="1274925"/>
          </a:xfrm>
          <a:prstGeom prst="roundRect">
            <a:avLst>
              <a:gd name="adj" fmla="val 6780"/>
            </a:avLst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730-150">
            <a:extLst>
              <a:ext uri="{FF2B5EF4-FFF2-40B4-BE49-F238E27FC236}">
                <a16:creationId xmlns:a16="http://schemas.microsoft.com/office/drawing/2014/main" id="{164181F7-5931-4F0F-B62E-A48266A9B5DE}"/>
              </a:ext>
            </a:extLst>
          </p:cNvPr>
          <p:cNvSpPr>
            <a:spLocks noGrp="1"/>
          </p:cNvSpPr>
          <p:nvPr/>
        </p:nvSpPr>
        <p:spPr>
          <a:xfrm>
            <a:off x="803910" y="1408247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809" lnSpcReduction="20000"/>
          </a:bodyPr>
          <a:lstStyle/>
          <a:p>
            <a:pPr algn="l">
              <a:buNone/>
              <a:defRPr sz="2025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Leakage detected</a:t>
            </a:r>
          </a:p>
        </p:txBody>
      </p:sp>
      <p:sp>
        <p:nvSpPr>
          <p:cNvPr id="6" name="text-730-194">
            <a:extLst>
              <a:ext uri="{FF2B5EF4-FFF2-40B4-BE49-F238E27FC236}">
                <a16:creationId xmlns:a16="http://schemas.microsoft.com/office/drawing/2014/main" id="{7DED80B1-7C79-4FA1-9E8A-721BC505DC15}"/>
              </a:ext>
            </a:extLst>
          </p:cNvPr>
          <p:cNvSpPr>
            <a:spLocks noGrp="1"/>
          </p:cNvSpPr>
          <p:nvPr/>
        </p:nvSpPr>
        <p:spPr>
          <a:xfrm>
            <a:off x="803910" y="1827346"/>
            <a:ext cx="4000500" cy="4119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Risk_Score</a:t>
            </a:r>
            <a:r>
              <a:rPr sz="1600" b="0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reconstructed almost all target labels.</a:t>
            </a:r>
          </a:p>
        </p:txBody>
      </p:sp>
      <p:sp>
        <p:nvSpPr>
          <p:cNvPr id="7" name="box-700-270">
            <a:extLst>
              <a:ext uri="{FF2B5EF4-FFF2-40B4-BE49-F238E27FC236}">
                <a16:creationId xmlns:a16="http://schemas.microsoft.com/office/drawing/2014/main" id="{8C841305-F3DA-4CB4-B7D1-4B1AE305B5F9}"/>
              </a:ext>
            </a:extLst>
          </p:cNvPr>
          <p:cNvSpPr>
            <a:spLocks noGrp="1"/>
          </p:cNvSpPr>
          <p:nvPr/>
        </p:nvSpPr>
        <p:spPr>
          <a:xfrm>
            <a:off x="518160" y="2551246"/>
            <a:ext cx="4523740" cy="1274925"/>
          </a:xfrm>
          <a:prstGeom prst="roundRect">
            <a:avLst>
              <a:gd name="adj" fmla="val 6780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-730-294">
            <a:extLst>
              <a:ext uri="{FF2B5EF4-FFF2-40B4-BE49-F238E27FC236}">
                <a16:creationId xmlns:a16="http://schemas.microsoft.com/office/drawing/2014/main" id="{5E75B667-F0A4-42E1-8E66-90DA8BDBB315}"/>
              </a:ext>
            </a:extLst>
          </p:cNvPr>
          <p:cNvSpPr>
            <a:spLocks noGrp="1"/>
          </p:cNvSpPr>
          <p:nvPr/>
        </p:nvSpPr>
        <p:spPr>
          <a:xfrm>
            <a:off x="803910" y="2779847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809" lnSpcReduction="20000"/>
          </a:bodyPr>
          <a:lstStyle/>
          <a:p>
            <a:pPr algn="l">
              <a:buNone/>
              <a:defRPr sz="20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Data-quality conflict</a:t>
            </a:r>
          </a:p>
        </p:txBody>
      </p:sp>
      <p:sp>
        <p:nvSpPr>
          <p:cNvPr id="9" name="text-730-338">
            <a:extLst>
              <a:ext uri="{FF2B5EF4-FFF2-40B4-BE49-F238E27FC236}">
                <a16:creationId xmlns:a16="http://schemas.microsoft.com/office/drawing/2014/main" id="{4F67735E-B973-46FD-9AD4-1CEE804DDAAC}"/>
              </a:ext>
            </a:extLst>
          </p:cNvPr>
          <p:cNvSpPr>
            <a:spLocks noGrp="1"/>
          </p:cNvSpPr>
          <p:nvPr/>
        </p:nvSpPr>
        <p:spPr>
          <a:xfrm>
            <a:off x="803910" y="3103697"/>
            <a:ext cx="4095750" cy="6058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Supplied </a:t>
            </a:r>
            <a:r>
              <a:rPr sz="1600" b="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Is_Weekend</a:t>
            </a:r>
            <a:r>
              <a:rPr sz="1600" b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disagreed with Timestamp for 41.5% of rows.</a:t>
            </a:r>
          </a:p>
        </p:txBody>
      </p:sp>
      <p:sp>
        <p:nvSpPr>
          <p:cNvPr id="10" name="box-700-414">
            <a:extLst>
              <a:ext uri="{FF2B5EF4-FFF2-40B4-BE49-F238E27FC236}">
                <a16:creationId xmlns:a16="http://schemas.microsoft.com/office/drawing/2014/main" id="{7B2DA0DD-4D25-47AF-9266-F4CA2B8A76B5}"/>
              </a:ext>
            </a:extLst>
          </p:cNvPr>
          <p:cNvSpPr>
            <a:spLocks noGrp="1"/>
          </p:cNvSpPr>
          <p:nvPr/>
        </p:nvSpPr>
        <p:spPr>
          <a:xfrm>
            <a:off x="518160" y="3922846"/>
            <a:ext cx="4523740" cy="1620667"/>
          </a:xfrm>
          <a:prstGeom prst="roundRect">
            <a:avLst>
              <a:gd name="adj" fmla="val 5333"/>
            </a:avLst>
          </a:prstGeom>
          <a:solidFill>
            <a:srgbClr val="EAF7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-730-438">
            <a:extLst>
              <a:ext uri="{FF2B5EF4-FFF2-40B4-BE49-F238E27FC236}">
                <a16:creationId xmlns:a16="http://schemas.microsoft.com/office/drawing/2014/main" id="{6244546C-313F-4FFA-B8B1-6F8A349AE399}"/>
              </a:ext>
            </a:extLst>
          </p:cNvPr>
          <p:cNvSpPr>
            <a:spLocks noGrp="1"/>
          </p:cNvSpPr>
          <p:nvPr/>
        </p:nvSpPr>
        <p:spPr>
          <a:xfrm>
            <a:off x="803910" y="4151447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2809" lnSpcReduction="20000"/>
          </a:bodyPr>
          <a:lstStyle/>
          <a:p>
            <a:pPr algn="l">
              <a:buNone/>
              <a:defRPr sz="2025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9B72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2" name="text-730-482">
            <a:extLst>
              <a:ext uri="{FF2B5EF4-FFF2-40B4-BE49-F238E27FC236}">
                <a16:creationId xmlns:a16="http://schemas.microsoft.com/office/drawing/2014/main" id="{6FBD369E-F611-42EB-ADAF-5FF89811216D}"/>
              </a:ext>
            </a:extLst>
          </p:cNvPr>
          <p:cNvSpPr>
            <a:spLocks noGrp="1"/>
          </p:cNvSpPr>
          <p:nvPr/>
        </p:nvSpPr>
        <p:spPr>
          <a:xfrm>
            <a:off x="803910" y="4570546"/>
            <a:ext cx="4095750" cy="702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Exclude Risk_Score; derive weekend and time features from Timestamp; keep feature policy versioned.</a:t>
            </a:r>
          </a:p>
        </p:txBody>
      </p:sp>
      <p:sp>
        <p:nvSpPr>
          <p:cNvPr id="13" name="text-48-620">
            <a:extLst>
              <a:ext uri="{FF2B5EF4-FFF2-40B4-BE49-F238E27FC236}">
                <a16:creationId xmlns:a16="http://schemas.microsoft.com/office/drawing/2014/main" id="{33666F09-8B6F-4FCA-83CC-B9226F20CB7E}"/>
              </a:ext>
            </a:extLst>
          </p:cNvPr>
          <p:cNvSpPr>
            <a:spLocks noGrp="1"/>
          </p:cNvSpPr>
          <p:nvPr/>
        </p:nvSpPr>
        <p:spPr>
          <a:xfrm>
            <a:off x="516469" y="5922432"/>
            <a:ext cx="1045633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sz="1500" b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Finding → decision: generalization evidence must be leakage-safe, even when headline recall declines.</a:t>
            </a:r>
          </a:p>
        </p:txBody>
      </p:sp>
    </p:spTree>
    <p:extLst>
      <p:ext uri="{BB962C8B-B14F-4D97-AF65-F5344CB8AC3E}">
        <p14:creationId xmlns:p14="http://schemas.microsoft.com/office/powerpoint/2010/main" val="1032252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8-32">
            <a:extLst>
              <a:ext uri="{FF2B5EF4-FFF2-40B4-BE49-F238E27FC236}">
                <a16:creationId xmlns:a16="http://schemas.microsoft.com/office/drawing/2014/main" id="{616B25EE-0196-49A1-A879-B46E05183CA9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845"/>
          </a:bodyPr>
          <a:lstStyle/>
          <a:p>
            <a:pPr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SG" sz="2925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Feature Engineering</a:t>
            </a:r>
            <a:endParaRPr sz="2925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84F93D6D-6043-4DF0-93D5-AD9915D94209}"/>
              </a:ext>
            </a:extLst>
          </p:cNvPr>
          <p:cNvSpPr>
            <a:spLocks noGrp="1"/>
          </p:cNvSpPr>
          <p:nvPr/>
        </p:nvSpPr>
        <p:spPr>
          <a:xfrm>
            <a:off x="11394019" y="6117168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2" name="Picture 19"/>
          <p:cNvPicPr>
            <a:picLocks noChangeAspect="1"/>
          </p:cNvPicPr>
          <p:nvPr/>
        </p:nvPicPr>
        <p:blipFill>
          <a:blip r:embed="rId3"/>
          <a:srcRect r="10367"/>
          <a:stretch>
            <a:fillRect/>
          </a:stretch>
        </p:blipFill>
        <p:spPr>
          <a:xfrm>
            <a:off x="6587727" y="1238250"/>
            <a:ext cx="5431553" cy="3445510"/>
          </a:xfrm>
          <a:prstGeom prst="rect">
            <a:avLst/>
          </a:prstGeom>
        </p:spPr>
      </p:pic>
      <p:sp>
        <p:nvSpPr>
          <p:cNvPr id="4" name="box-585-130">
            <a:extLst>
              <a:ext uri="{FF2B5EF4-FFF2-40B4-BE49-F238E27FC236}">
                <a16:creationId xmlns:a16="http://schemas.microsoft.com/office/drawing/2014/main" id="{47EA7B72-F1AF-4D3D-83CD-D36DE4118D69}"/>
              </a:ext>
            </a:extLst>
          </p:cNvPr>
          <p:cNvSpPr>
            <a:spLocks noGrp="1"/>
          </p:cNvSpPr>
          <p:nvPr/>
        </p:nvSpPr>
        <p:spPr>
          <a:xfrm>
            <a:off x="563245" y="1238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603-150">
            <a:extLst>
              <a:ext uri="{FF2B5EF4-FFF2-40B4-BE49-F238E27FC236}">
                <a16:creationId xmlns:a16="http://schemas.microsoft.com/office/drawing/2014/main" id="{A83A741E-A439-44F3-ACFB-5C4C7FAC2CDD}"/>
              </a:ext>
            </a:extLst>
          </p:cNvPr>
          <p:cNvSpPr>
            <a:spLocks noGrp="1"/>
          </p:cNvSpPr>
          <p:nvPr/>
        </p:nvSpPr>
        <p:spPr>
          <a:xfrm>
            <a:off x="734695" y="1428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50,000</a:t>
            </a:r>
          </a:p>
        </p:txBody>
      </p:sp>
      <p:sp>
        <p:nvSpPr>
          <p:cNvPr id="6" name="text-603-214">
            <a:extLst>
              <a:ext uri="{FF2B5EF4-FFF2-40B4-BE49-F238E27FC236}">
                <a16:creationId xmlns:a16="http://schemas.microsoft.com/office/drawing/2014/main" id="{367FAFF7-B8D5-4EAD-980E-8D7A22EB1079}"/>
              </a:ext>
            </a:extLst>
          </p:cNvPr>
          <p:cNvSpPr>
            <a:spLocks noGrp="1"/>
          </p:cNvSpPr>
          <p:nvPr/>
        </p:nvSpPr>
        <p:spPr>
          <a:xfrm>
            <a:off x="734695" y="2038350"/>
            <a:ext cx="146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7" name="box-790-130">
            <a:extLst>
              <a:ext uri="{FF2B5EF4-FFF2-40B4-BE49-F238E27FC236}">
                <a16:creationId xmlns:a16="http://schemas.microsoft.com/office/drawing/2014/main" id="{386BBF4F-40CA-4A1D-8490-C8BAE91F47F8}"/>
              </a:ext>
            </a:extLst>
          </p:cNvPr>
          <p:cNvSpPr>
            <a:spLocks noGrp="1"/>
          </p:cNvSpPr>
          <p:nvPr/>
        </p:nvSpPr>
        <p:spPr>
          <a:xfrm>
            <a:off x="2515870" y="1238250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-808-150">
            <a:extLst>
              <a:ext uri="{FF2B5EF4-FFF2-40B4-BE49-F238E27FC236}">
                <a16:creationId xmlns:a16="http://schemas.microsoft.com/office/drawing/2014/main" id="{CFDA54AF-11DF-40FA-A8A0-86AE2360DD4E}"/>
              </a:ext>
            </a:extLst>
          </p:cNvPr>
          <p:cNvSpPr>
            <a:spLocks noGrp="1"/>
          </p:cNvSpPr>
          <p:nvPr/>
        </p:nvSpPr>
        <p:spPr>
          <a:xfrm>
            <a:off x="2687320" y="142875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9" name="text-808-214">
            <a:extLst>
              <a:ext uri="{FF2B5EF4-FFF2-40B4-BE49-F238E27FC236}">
                <a16:creationId xmlns:a16="http://schemas.microsoft.com/office/drawing/2014/main" id="{1F23DF64-03F6-414E-AFB9-2B3F021076BE}"/>
              </a:ext>
            </a:extLst>
          </p:cNvPr>
          <p:cNvSpPr>
            <a:spLocks noGrp="1"/>
          </p:cNvSpPr>
          <p:nvPr/>
        </p:nvSpPr>
        <p:spPr>
          <a:xfrm>
            <a:off x="2687320" y="2038350"/>
            <a:ext cx="146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raw columns</a:t>
            </a:r>
          </a:p>
        </p:txBody>
      </p:sp>
      <p:sp>
        <p:nvSpPr>
          <p:cNvPr id="10" name="box-995-130">
            <a:extLst>
              <a:ext uri="{FF2B5EF4-FFF2-40B4-BE49-F238E27FC236}">
                <a16:creationId xmlns:a16="http://schemas.microsoft.com/office/drawing/2014/main" id="{7B748905-EEC1-4A4E-9C37-545E53E549B5}"/>
              </a:ext>
            </a:extLst>
          </p:cNvPr>
          <p:cNvSpPr>
            <a:spLocks noGrp="1"/>
          </p:cNvSpPr>
          <p:nvPr/>
        </p:nvSpPr>
        <p:spPr>
          <a:xfrm>
            <a:off x="4468495" y="1238250"/>
            <a:ext cx="19526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-1013-150">
            <a:extLst>
              <a:ext uri="{FF2B5EF4-FFF2-40B4-BE49-F238E27FC236}">
                <a16:creationId xmlns:a16="http://schemas.microsoft.com/office/drawing/2014/main" id="{3F3BFE29-6293-4FAC-83BB-245DF10BEFBE}"/>
              </a:ext>
            </a:extLst>
          </p:cNvPr>
          <p:cNvSpPr>
            <a:spLocks noGrp="1"/>
          </p:cNvSpPr>
          <p:nvPr/>
        </p:nvSpPr>
        <p:spPr>
          <a:xfrm>
            <a:off x="4639945" y="1428750"/>
            <a:ext cx="1609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32.1%</a:t>
            </a:r>
          </a:p>
        </p:txBody>
      </p:sp>
      <p:sp>
        <p:nvSpPr>
          <p:cNvPr id="12" name="text-1013-214">
            <a:extLst>
              <a:ext uri="{FF2B5EF4-FFF2-40B4-BE49-F238E27FC236}">
                <a16:creationId xmlns:a16="http://schemas.microsoft.com/office/drawing/2014/main" id="{773EB580-914D-4372-A28C-957185E77535}"/>
              </a:ext>
            </a:extLst>
          </p:cNvPr>
          <p:cNvSpPr>
            <a:spLocks noGrp="1"/>
          </p:cNvSpPr>
          <p:nvPr/>
        </p:nvSpPr>
        <p:spPr>
          <a:xfrm>
            <a:off x="4639945" y="2038350"/>
            <a:ext cx="1609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fraud rate</a:t>
            </a:r>
          </a:p>
        </p:txBody>
      </p:sp>
      <p:sp>
        <p:nvSpPr>
          <p:cNvPr id="13" name="text-585-330">
            <a:extLst>
              <a:ext uri="{FF2B5EF4-FFF2-40B4-BE49-F238E27FC236}">
                <a16:creationId xmlns:a16="http://schemas.microsoft.com/office/drawing/2014/main" id="{AC9BA226-B275-48A2-B712-6AF7873251F2}"/>
              </a:ext>
            </a:extLst>
          </p:cNvPr>
          <p:cNvSpPr>
            <a:spLocks noGrp="1"/>
          </p:cNvSpPr>
          <p:nvPr/>
        </p:nvSpPr>
        <p:spPr>
          <a:xfrm>
            <a:off x="634365" y="313309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Feature engineering</a:t>
            </a:r>
          </a:p>
        </p:txBody>
      </p:sp>
      <p:sp>
        <p:nvSpPr>
          <p:cNvPr id="14" name="text-585-380">
            <a:extLst>
              <a:ext uri="{FF2B5EF4-FFF2-40B4-BE49-F238E27FC236}">
                <a16:creationId xmlns:a16="http://schemas.microsoft.com/office/drawing/2014/main" id="{20C5D629-05DB-4615-94FC-B17DB43687F6}"/>
              </a:ext>
            </a:extLst>
          </p:cNvPr>
          <p:cNvSpPr>
            <a:spLocks noGrp="1"/>
          </p:cNvSpPr>
          <p:nvPr/>
        </p:nvSpPr>
        <p:spPr>
          <a:xfrm>
            <a:off x="634365" y="3619499"/>
            <a:ext cx="2857500" cy="2000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Hour, day-of-week, month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Cyclic hour sin/cos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Derived weekend flag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500" b="0" dirty="0" err="1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Behavioural</a:t>
            </a: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 7-day features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One-hot categorical encoding</a:t>
            </a:r>
          </a:p>
        </p:txBody>
      </p:sp>
      <p:sp>
        <p:nvSpPr>
          <p:cNvPr id="15" name="text-925-330">
            <a:extLst>
              <a:ext uri="{FF2B5EF4-FFF2-40B4-BE49-F238E27FC236}">
                <a16:creationId xmlns:a16="http://schemas.microsoft.com/office/drawing/2014/main" id="{685F78FF-736C-459E-96D3-24F91CB2E477}"/>
              </a:ext>
            </a:extLst>
          </p:cNvPr>
          <p:cNvSpPr>
            <a:spLocks noGrp="1"/>
          </p:cNvSpPr>
          <p:nvPr/>
        </p:nvSpPr>
        <p:spPr>
          <a:xfrm>
            <a:off x="3659505" y="313309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Split &amp; safeguards</a:t>
            </a:r>
          </a:p>
        </p:txBody>
      </p:sp>
      <p:sp>
        <p:nvSpPr>
          <p:cNvPr id="16" name="text-925-380">
            <a:extLst>
              <a:ext uri="{FF2B5EF4-FFF2-40B4-BE49-F238E27FC236}">
                <a16:creationId xmlns:a16="http://schemas.microsoft.com/office/drawing/2014/main" id="{B1FD1C29-4DFF-402C-AD68-E063AECEDF6A}"/>
              </a:ext>
            </a:extLst>
          </p:cNvPr>
          <p:cNvSpPr>
            <a:spLocks noGrp="1"/>
          </p:cNvSpPr>
          <p:nvPr/>
        </p:nvSpPr>
        <p:spPr>
          <a:xfrm>
            <a:off x="3659504" y="3609339"/>
            <a:ext cx="2857499" cy="2000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Stratified 60 / 20 / 20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Train: 30k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Validation: 10k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Test: 10k</a:t>
            </a:r>
          </a:p>
          <a:p>
            <a:pPr algn="l">
              <a:lnSpc>
                <a:spcPct val="150000"/>
              </a:lnSpc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lang="en-US"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Unseen</a:t>
            </a: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 test </a:t>
            </a:r>
            <a:r>
              <a:rPr lang="en-US"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dataset </a:t>
            </a:r>
            <a:r>
              <a:rPr sz="1500" b="0" dirty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until final evaluation</a:t>
            </a:r>
          </a:p>
        </p:txBody>
      </p:sp>
      <p:sp>
        <p:nvSpPr>
          <p:cNvPr id="17" name="text-48-605">
            <a:extLst>
              <a:ext uri="{FF2B5EF4-FFF2-40B4-BE49-F238E27FC236}">
                <a16:creationId xmlns:a16="http://schemas.microsoft.com/office/drawing/2014/main" id="{587D13D9-197C-46BA-8D7F-53D5AA58F3BC}"/>
              </a:ext>
            </a:extLst>
          </p:cNvPr>
          <p:cNvSpPr>
            <a:spLocks noGrp="1"/>
          </p:cNvSpPr>
          <p:nvPr/>
        </p:nvSpPr>
        <p:spPr>
          <a:xfrm>
            <a:off x="457200" y="5945505"/>
            <a:ext cx="1104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No missing values or duplicate rows; imbalance is moderate, so metrics emphasize recall, precision, F1 and FPR—not accuracy alone.</a:t>
            </a:r>
          </a:p>
        </p:txBody>
      </p:sp>
    </p:spTree>
    <p:extLst>
      <p:ext uri="{BB962C8B-B14F-4D97-AF65-F5344CB8AC3E}">
        <p14:creationId xmlns:p14="http://schemas.microsoft.com/office/powerpoint/2010/main" val="43235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-48-32">
            <a:extLst>
              <a:ext uri="{FF2B5EF4-FFF2-40B4-BE49-F238E27FC236}">
                <a16:creationId xmlns:a16="http://schemas.microsoft.com/office/drawing/2014/main" id="{E0951C20-86FA-42E8-9930-BB8F0FB6DC86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73"/>
          </a:bodyPr>
          <a:lstStyle/>
          <a:p>
            <a:r>
              <a:rPr lang="en-US" sz="2925" b="1" dirty="0">
                <a:solidFill>
                  <a:srgbClr val="10233E"/>
                </a:solidFill>
                <a:latin typeface="Arial"/>
                <a:cs typeface="Arial"/>
              </a:rPr>
              <a:t>Logistic Regression and </a:t>
            </a:r>
            <a:r>
              <a:rPr lang="en-US" sz="2925" b="1" dirty="0" err="1">
                <a:solidFill>
                  <a:srgbClr val="10233E"/>
                </a:solidFill>
                <a:latin typeface="Arial"/>
                <a:cs typeface="Arial"/>
              </a:rPr>
              <a:t>XGBoost</a:t>
            </a:r>
            <a:r>
              <a:rPr lang="en-US" sz="2925" b="1" dirty="0">
                <a:solidFill>
                  <a:srgbClr val="10233E"/>
                </a:solidFill>
                <a:latin typeface="Arial"/>
                <a:cs typeface="Arial"/>
              </a:rPr>
              <a:t> experiments</a:t>
            </a: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3ED4BD0E-A7F2-4778-9D08-6E6B3EC04913}"/>
              </a:ext>
            </a:extLst>
          </p:cNvPr>
          <p:cNvSpPr>
            <a:spLocks noGrp="1"/>
          </p:cNvSpPr>
          <p:nvPr/>
        </p:nvSpPr>
        <p:spPr>
          <a:xfrm>
            <a:off x="11419420" y="616796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box-48-150">
            <a:extLst>
              <a:ext uri="{FF2B5EF4-FFF2-40B4-BE49-F238E27FC236}">
                <a16:creationId xmlns:a16="http://schemas.microsoft.com/office/drawing/2014/main" id="{FC6B95B1-4B2B-428F-89EB-B2C309E07848}"/>
              </a:ext>
            </a:extLst>
          </p:cNvPr>
          <p:cNvSpPr>
            <a:spLocks noGrp="1"/>
          </p:cNvSpPr>
          <p:nvPr/>
        </p:nvSpPr>
        <p:spPr>
          <a:xfrm>
            <a:off x="457200" y="1232807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box-48-150">
            <a:extLst>
              <a:ext uri="{FF2B5EF4-FFF2-40B4-BE49-F238E27FC236}">
                <a16:creationId xmlns:a16="http://schemas.microsoft.com/office/drawing/2014/main" id="{27E4EF36-3A5B-4F1D-8CFB-1F4C5056A4D5}"/>
              </a:ext>
            </a:extLst>
          </p:cNvPr>
          <p:cNvSpPr>
            <a:spLocks noGrp="1"/>
          </p:cNvSpPr>
          <p:nvPr/>
        </p:nvSpPr>
        <p:spPr>
          <a:xfrm>
            <a:off x="457200" y="1232807"/>
            <a:ext cx="3333750" cy="1143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72-190">
            <a:extLst>
              <a:ext uri="{FF2B5EF4-FFF2-40B4-BE49-F238E27FC236}">
                <a16:creationId xmlns:a16="http://schemas.microsoft.com/office/drawing/2014/main" id="{0077AAED-F9C6-4B1D-BE82-B19B4FB4557D}"/>
              </a:ext>
            </a:extLst>
          </p:cNvPr>
          <p:cNvSpPr>
            <a:spLocks noGrp="1"/>
          </p:cNvSpPr>
          <p:nvPr/>
        </p:nvSpPr>
        <p:spPr>
          <a:xfrm>
            <a:off x="685800" y="1613807"/>
            <a:ext cx="287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Model A — Logistic Regression</a:t>
            </a:r>
          </a:p>
        </p:txBody>
      </p:sp>
      <p:sp>
        <p:nvSpPr>
          <p:cNvPr id="6" name="text-72-285">
            <a:extLst>
              <a:ext uri="{FF2B5EF4-FFF2-40B4-BE49-F238E27FC236}">
                <a16:creationId xmlns:a16="http://schemas.microsoft.com/office/drawing/2014/main" id="{DA1F2D05-8BC0-47F6-AA01-AE019ED2D3F9}"/>
              </a:ext>
            </a:extLst>
          </p:cNvPr>
          <p:cNvSpPr>
            <a:spLocks noGrp="1"/>
          </p:cNvSpPr>
          <p:nvPr/>
        </p:nvSpPr>
        <p:spPr>
          <a:xfrm>
            <a:off x="685800" y="2518682"/>
            <a:ext cx="28765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Interpretable linear baseline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4 candidate runs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Tests whether engineered signals are sufficient without nonlinear interactions.</a:t>
            </a:r>
          </a:p>
        </p:txBody>
      </p:sp>
      <p:sp>
        <p:nvSpPr>
          <p:cNvPr id="7" name="box-438-150">
            <a:extLst>
              <a:ext uri="{FF2B5EF4-FFF2-40B4-BE49-F238E27FC236}">
                <a16:creationId xmlns:a16="http://schemas.microsoft.com/office/drawing/2014/main" id="{C291D28B-213D-4A25-8E35-E2B97B349565}"/>
              </a:ext>
            </a:extLst>
          </p:cNvPr>
          <p:cNvSpPr>
            <a:spLocks noGrp="1"/>
          </p:cNvSpPr>
          <p:nvPr/>
        </p:nvSpPr>
        <p:spPr>
          <a:xfrm>
            <a:off x="4171950" y="1232807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ox-438-150">
            <a:extLst>
              <a:ext uri="{FF2B5EF4-FFF2-40B4-BE49-F238E27FC236}">
                <a16:creationId xmlns:a16="http://schemas.microsoft.com/office/drawing/2014/main" id="{A993C983-9FA9-4843-815B-3F8633A40E8F}"/>
              </a:ext>
            </a:extLst>
          </p:cNvPr>
          <p:cNvSpPr>
            <a:spLocks noGrp="1"/>
          </p:cNvSpPr>
          <p:nvPr/>
        </p:nvSpPr>
        <p:spPr>
          <a:xfrm>
            <a:off x="4171950" y="1232807"/>
            <a:ext cx="3333750" cy="114300"/>
          </a:xfrm>
          <a:prstGeom prst="rect">
            <a:avLst/>
          </a:prstGeom>
          <a:solidFill>
            <a:srgbClr val="E7933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-462-190">
            <a:extLst>
              <a:ext uri="{FF2B5EF4-FFF2-40B4-BE49-F238E27FC236}">
                <a16:creationId xmlns:a16="http://schemas.microsoft.com/office/drawing/2014/main" id="{69EAF3E9-4810-4F30-BD0B-1EE2AE21BD7F}"/>
              </a:ext>
            </a:extLst>
          </p:cNvPr>
          <p:cNvSpPr>
            <a:spLocks noGrp="1"/>
          </p:cNvSpPr>
          <p:nvPr/>
        </p:nvSpPr>
        <p:spPr>
          <a:xfrm>
            <a:off x="4400550" y="1613807"/>
            <a:ext cx="287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Model B — XGBoost</a:t>
            </a:r>
          </a:p>
        </p:txBody>
      </p:sp>
      <p:sp>
        <p:nvSpPr>
          <p:cNvPr id="10" name="text-462-285">
            <a:extLst>
              <a:ext uri="{FF2B5EF4-FFF2-40B4-BE49-F238E27FC236}">
                <a16:creationId xmlns:a16="http://schemas.microsoft.com/office/drawing/2014/main" id="{53AACD46-24EA-490B-A74C-A524807E6461}"/>
              </a:ext>
            </a:extLst>
          </p:cNvPr>
          <p:cNvSpPr>
            <a:spLocks noGrp="1"/>
          </p:cNvSpPr>
          <p:nvPr/>
        </p:nvSpPr>
        <p:spPr>
          <a:xfrm>
            <a:off x="4400550" y="2518682"/>
            <a:ext cx="28765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Nonlinear boosted trees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6 candidate runs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Tests interaction effects and ranks candidates at the same FPR constraint.</a:t>
            </a:r>
          </a:p>
        </p:txBody>
      </p:sp>
      <p:sp>
        <p:nvSpPr>
          <p:cNvPr id="11" name="box-828-150">
            <a:extLst>
              <a:ext uri="{FF2B5EF4-FFF2-40B4-BE49-F238E27FC236}">
                <a16:creationId xmlns:a16="http://schemas.microsoft.com/office/drawing/2014/main" id="{E3426D5F-6379-429A-88D2-63FA918C7F83}"/>
              </a:ext>
            </a:extLst>
          </p:cNvPr>
          <p:cNvSpPr>
            <a:spLocks noGrp="1"/>
          </p:cNvSpPr>
          <p:nvPr/>
        </p:nvSpPr>
        <p:spPr>
          <a:xfrm>
            <a:off x="7886700" y="1232807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ox-828-150">
            <a:extLst>
              <a:ext uri="{FF2B5EF4-FFF2-40B4-BE49-F238E27FC236}">
                <a16:creationId xmlns:a16="http://schemas.microsoft.com/office/drawing/2014/main" id="{4CA107ED-E9AF-4656-9F30-0A74026E4420}"/>
              </a:ext>
            </a:extLst>
          </p:cNvPr>
          <p:cNvSpPr>
            <a:spLocks noGrp="1"/>
          </p:cNvSpPr>
          <p:nvPr/>
        </p:nvSpPr>
        <p:spPr>
          <a:xfrm>
            <a:off x="7886700" y="1232807"/>
            <a:ext cx="3333750" cy="114300"/>
          </a:xfrm>
          <a:prstGeom prst="rect">
            <a:avLst/>
          </a:prstGeom>
          <a:solidFill>
            <a:srgbClr val="279B7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-852-190">
            <a:extLst>
              <a:ext uri="{FF2B5EF4-FFF2-40B4-BE49-F238E27FC236}">
                <a16:creationId xmlns:a16="http://schemas.microsoft.com/office/drawing/2014/main" id="{9C3623E7-95B8-476C-B096-B56D8CB1B370}"/>
              </a:ext>
            </a:extLst>
          </p:cNvPr>
          <p:cNvSpPr>
            <a:spLocks noGrp="1"/>
          </p:cNvSpPr>
          <p:nvPr/>
        </p:nvSpPr>
        <p:spPr>
          <a:xfrm>
            <a:off x="8115300" y="1613807"/>
            <a:ext cx="287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Shared Decision Layer</a:t>
            </a:r>
          </a:p>
        </p:txBody>
      </p:sp>
      <p:sp>
        <p:nvSpPr>
          <p:cNvPr id="14" name="text-852-285">
            <a:extLst>
              <a:ext uri="{FF2B5EF4-FFF2-40B4-BE49-F238E27FC236}">
                <a16:creationId xmlns:a16="http://schemas.microsoft.com/office/drawing/2014/main" id="{545147F4-20E1-4BF1-8797-3B098AAC197F}"/>
              </a:ext>
            </a:extLst>
          </p:cNvPr>
          <p:cNvSpPr>
            <a:spLocks noGrp="1"/>
          </p:cNvSpPr>
          <p:nvPr/>
        </p:nvSpPr>
        <p:spPr>
          <a:xfrm>
            <a:off x="8115300" y="2518682"/>
            <a:ext cx="28765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Validation-only thresholding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FPR budgets: 1%–5%</a:t>
            </a:r>
          </a:p>
          <a:p>
            <a:endParaRPr sz="1500" b="0">
              <a:solidFill>
                <a:srgbClr val="52657A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Champion = highest validation recall while meeting the 4% target.</a:t>
            </a:r>
          </a:p>
        </p:txBody>
      </p:sp>
      <p:sp>
        <p:nvSpPr>
          <p:cNvPr id="16" name="text-270-590">
            <a:extLst>
              <a:ext uri="{FF2B5EF4-FFF2-40B4-BE49-F238E27FC236}">
                <a16:creationId xmlns:a16="http://schemas.microsoft.com/office/drawing/2014/main" id="{31968E2D-6D19-4105-8616-BD4BCD5AFBA7}"/>
              </a:ext>
            </a:extLst>
          </p:cNvPr>
          <p:cNvSpPr>
            <a:spLocks noGrp="1"/>
          </p:cNvSpPr>
          <p:nvPr/>
        </p:nvSpPr>
        <p:spPr>
          <a:xfrm>
            <a:off x="541414" y="5163224"/>
            <a:ext cx="3020936" cy="3327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Member 1: 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Maung Naing Win Kyaw </a:t>
            </a:r>
          </a:p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Model A + Data/EDA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buNone/>
            </a:pPr>
            <a:endParaRPr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text-270-590">
            <a:extLst>
              <a:ext uri="{FF2B5EF4-FFF2-40B4-BE49-F238E27FC236}">
                <a16:creationId xmlns:a16="http://schemas.microsoft.com/office/drawing/2014/main" id="{8E3C007A-775A-175F-7CAE-D1D719D135BE}"/>
              </a:ext>
            </a:extLst>
          </p:cNvPr>
          <p:cNvSpPr>
            <a:spLocks noGrp="1"/>
          </p:cNvSpPr>
          <p:nvPr/>
        </p:nvSpPr>
        <p:spPr>
          <a:xfrm>
            <a:off x="3562350" y="5163224"/>
            <a:ext cx="4482193" cy="6095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Member 2: 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US" sz="1500" b="1" dirty="0" err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Tha</a:t>
            </a:r>
            <a:r>
              <a:rPr lang="en-US"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 Zin Oo</a:t>
            </a:r>
          </a:p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Model B + Data/EDA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-270-590">
            <a:extLst>
              <a:ext uri="{FF2B5EF4-FFF2-40B4-BE49-F238E27FC236}">
                <a16:creationId xmlns:a16="http://schemas.microsoft.com/office/drawing/2014/main" id="{EB2C6C0C-BDB9-0E07-C430-45D036697802}"/>
              </a:ext>
            </a:extLst>
          </p:cNvPr>
          <p:cNvSpPr>
            <a:spLocks noGrp="1"/>
          </p:cNvSpPr>
          <p:nvPr/>
        </p:nvSpPr>
        <p:spPr>
          <a:xfrm>
            <a:off x="7589615" y="5167985"/>
            <a:ext cx="4029830" cy="6963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Member 3: 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pPr algn="ctr"/>
            <a:r>
              <a:rPr lang="en-SG"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Lionel Tay Choon </a:t>
            </a:r>
            <a:r>
              <a:rPr lang="en-SG" sz="1500" b="1" dirty="0" err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Thye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buNone/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Deployment + </a:t>
            </a:r>
            <a:r>
              <a:rPr sz="1500" b="1" dirty="0" err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MLOps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012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48-32">
            <a:extLst>
              <a:ext uri="{FF2B5EF4-FFF2-40B4-BE49-F238E27FC236}">
                <a16:creationId xmlns:a16="http://schemas.microsoft.com/office/drawing/2014/main" id="{0879A893-D829-425B-AF59-6CD8A11CDBF6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73"/>
          </a:bodyPr>
          <a:lstStyle/>
          <a:p>
            <a:pPr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SG" sz="2925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Model comparison and champion selection</a:t>
            </a:r>
            <a:endParaRPr sz="2925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EADCB019-5F88-4D5A-8D9F-C5184C53ED3C}"/>
              </a:ext>
            </a:extLst>
          </p:cNvPr>
          <p:cNvSpPr>
            <a:spLocks noGrp="1"/>
          </p:cNvSpPr>
          <p:nvPr/>
        </p:nvSpPr>
        <p:spPr>
          <a:xfrm>
            <a:off x="11458575" y="61912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045079"/>
            <a:ext cx="7239000" cy="2815467"/>
          </a:xfrm>
          <a:prstGeom prst="rect">
            <a:avLst/>
          </a:prstGeom>
        </p:spPr>
      </p:pic>
      <p:sp>
        <p:nvSpPr>
          <p:cNvPr id="4" name="box-845-135">
            <a:extLst>
              <a:ext uri="{FF2B5EF4-FFF2-40B4-BE49-F238E27FC236}">
                <a16:creationId xmlns:a16="http://schemas.microsoft.com/office/drawing/2014/main" id="{2F098CDB-81CE-43D9-998E-19A9AC587F85}"/>
              </a:ext>
            </a:extLst>
          </p:cNvPr>
          <p:cNvSpPr>
            <a:spLocks noGrp="1"/>
          </p:cNvSpPr>
          <p:nvPr/>
        </p:nvSpPr>
        <p:spPr>
          <a:xfrm>
            <a:off x="8048625" y="1285875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870-158">
            <a:extLst>
              <a:ext uri="{FF2B5EF4-FFF2-40B4-BE49-F238E27FC236}">
                <a16:creationId xmlns:a16="http://schemas.microsoft.com/office/drawing/2014/main" id="{78394731-FB0B-49C2-9F48-370D08D92311}"/>
              </a:ext>
            </a:extLst>
          </p:cNvPr>
          <p:cNvSpPr>
            <a:spLocks noGrp="1"/>
          </p:cNvSpPr>
          <p:nvPr/>
        </p:nvSpPr>
        <p:spPr>
          <a:xfrm>
            <a:off x="8286750" y="1504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6" name="text-870-197">
            <a:extLst>
              <a:ext uri="{FF2B5EF4-FFF2-40B4-BE49-F238E27FC236}">
                <a16:creationId xmlns:a16="http://schemas.microsoft.com/office/drawing/2014/main" id="{8CACC922-E5C3-4E3A-A504-980F769A9CDE}"/>
              </a:ext>
            </a:extLst>
          </p:cNvPr>
          <p:cNvSpPr>
            <a:spLocks noGrp="1"/>
          </p:cNvSpPr>
          <p:nvPr/>
        </p:nvSpPr>
        <p:spPr>
          <a:xfrm>
            <a:off x="8286750" y="1876425"/>
            <a:ext cx="276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895" lnSpcReduction="10000"/>
          </a:bodyPr>
          <a:lstStyle/>
          <a:p>
            <a:pPr algn="l">
              <a:buNone/>
              <a:defRPr sz="20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XGBoost candidate 05</a:t>
            </a:r>
          </a:p>
        </p:txBody>
      </p:sp>
      <p:sp>
        <p:nvSpPr>
          <p:cNvPr id="7" name="text-870-242">
            <a:extLst>
              <a:ext uri="{FF2B5EF4-FFF2-40B4-BE49-F238E27FC236}">
                <a16:creationId xmlns:a16="http://schemas.microsoft.com/office/drawing/2014/main" id="{6369C4AA-A7B1-4BCB-B8BC-27874051CA23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Times New Roman"/>
                <a:ea typeface="Times New Roman"/>
                <a:cs typeface="Times New Roman"/>
              </a:rPr>
              <a:t>Threshold 0.1947</a:t>
            </a:r>
          </a:p>
        </p:txBody>
      </p:sp>
      <p:sp>
        <p:nvSpPr>
          <p:cNvPr id="8" name="box-845-315">
            <a:extLst>
              <a:ext uri="{FF2B5EF4-FFF2-40B4-BE49-F238E27FC236}">
                <a16:creationId xmlns:a16="http://schemas.microsoft.com/office/drawing/2014/main" id="{24E29DB5-D5B0-45F3-88D5-542197FFF01C}"/>
              </a:ext>
            </a:extLst>
          </p:cNvPr>
          <p:cNvSpPr>
            <a:spLocks noGrp="1"/>
          </p:cNvSpPr>
          <p:nvPr/>
        </p:nvSpPr>
        <p:spPr>
          <a:xfrm>
            <a:off x="8048625" y="3000375"/>
            <a:ext cx="15716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-863-335">
            <a:extLst>
              <a:ext uri="{FF2B5EF4-FFF2-40B4-BE49-F238E27FC236}">
                <a16:creationId xmlns:a16="http://schemas.microsoft.com/office/drawing/2014/main" id="{A365117D-C83E-45E1-84E7-868948AE8CD8}"/>
              </a:ext>
            </a:extLst>
          </p:cNvPr>
          <p:cNvSpPr>
            <a:spLocks noGrp="1"/>
          </p:cNvSpPr>
          <p:nvPr/>
        </p:nvSpPr>
        <p:spPr>
          <a:xfrm>
            <a:off x="8220075" y="3190875"/>
            <a:ext cx="1228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14"/>
          </a:bodyPr>
          <a:lstStyle/>
          <a:p>
            <a:pPr algn="l">
              <a:buNone/>
              <a:defRPr sz="28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63.12%</a:t>
            </a:r>
          </a:p>
        </p:txBody>
      </p:sp>
      <p:sp>
        <p:nvSpPr>
          <p:cNvPr id="10" name="text-863-399">
            <a:extLst>
              <a:ext uri="{FF2B5EF4-FFF2-40B4-BE49-F238E27FC236}">
                <a16:creationId xmlns:a16="http://schemas.microsoft.com/office/drawing/2014/main" id="{900E5535-FDFF-4CDF-8C63-59CFB7B0FF16}"/>
              </a:ext>
            </a:extLst>
          </p:cNvPr>
          <p:cNvSpPr>
            <a:spLocks noGrp="1"/>
          </p:cNvSpPr>
          <p:nvPr/>
        </p:nvSpPr>
        <p:spPr>
          <a:xfrm>
            <a:off x="8220075" y="3800475"/>
            <a:ext cx="1228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18" lnSpcReduction="10000"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validation recall</a:t>
            </a:r>
          </a:p>
        </p:txBody>
      </p:sp>
      <p:sp>
        <p:nvSpPr>
          <p:cNvPr id="11" name="box-1030-315">
            <a:extLst>
              <a:ext uri="{FF2B5EF4-FFF2-40B4-BE49-F238E27FC236}">
                <a16:creationId xmlns:a16="http://schemas.microsoft.com/office/drawing/2014/main" id="{46E3AF10-96EF-42BE-8EA3-678F4DED446D}"/>
              </a:ext>
            </a:extLst>
          </p:cNvPr>
          <p:cNvSpPr>
            <a:spLocks noGrp="1"/>
          </p:cNvSpPr>
          <p:nvPr/>
        </p:nvSpPr>
        <p:spPr>
          <a:xfrm>
            <a:off x="9810750" y="3000375"/>
            <a:ext cx="15716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-1048-335">
            <a:extLst>
              <a:ext uri="{FF2B5EF4-FFF2-40B4-BE49-F238E27FC236}">
                <a16:creationId xmlns:a16="http://schemas.microsoft.com/office/drawing/2014/main" id="{82243410-1A5A-422F-9E4E-0A78022887E9}"/>
              </a:ext>
            </a:extLst>
          </p:cNvPr>
          <p:cNvSpPr>
            <a:spLocks noGrp="1"/>
          </p:cNvSpPr>
          <p:nvPr/>
        </p:nvSpPr>
        <p:spPr>
          <a:xfrm>
            <a:off x="9982200" y="3190875"/>
            <a:ext cx="1228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3.92%</a:t>
            </a:r>
          </a:p>
        </p:txBody>
      </p:sp>
      <p:sp>
        <p:nvSpPr>
          <p:cNvPr id="13" name="text-1048-399">
            <a:extLst>
              <a:ext uri="{FF2B5EF4-FFF2-40B4-BE49-F238E27FC236}">
                <a16:creationId xmlns:a16="http://schemas.microsoft.com/office/drawing/2014/main" id="{04BBA585-C122-4870-B3A7-05D451FA3AA1}"/>
              </a:ext>
            </a:extLst>
          </p:cNvPr>
          <p:cNvSpPr>
            <a:spLocks noGrp="1"/>
          </p:cNvSpPr>
          <p:nvPr/>
        </p:nvSpPr>
        <p:spPr>
          <a:xfrm>
            <a:off x="9982200" y="3800475"/>
            <a:ext cx="1228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42" lnSpcReduction="10000"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validation FPR</a:t>
            </a:r>
          </a:p>
        </p:txBody>
      </p:sp>
      <p:sp>
        <p:nvSpPr>
          <p:cNvPr id="14" name="box-845-495">
            <a:extLst>
              <a:ext uri="{FF2B5EF4-FFF2-40B4-BE49-F238E27FC236}">
                <a16:creationId xmlns:a16="http://schemas.microsoft.com/office/drawing/2014/main" id="{1F2FC681-2649-478E-AF2A-B43BD896B76A}"/>
              </a:ext>
            </a:extLst>
          </p:cNvPr>
          <p:cNvSpPr>
            <a:spLocks noGrp="1"/>
          </p:cNvSpPr>
          <p:nvPr/>
        </p:nvSpPr>
        <p:spPr>
          <a:xfrm>
            <a:off x="8048625" y="4714875"/>
            <a:ext cx="3333750" cy="1009650"/>
          </a:xfrm>
          <a:prstGeom prst="roundRect">
            <a:avLst>
              <a:gd name="adj" fmla="val 7547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-870-515">
            <a:extLst>
              <a:ext uri="{FF2B5EF4-FFF2-40B4-BE49-F238E27FC236}">
                <a16:creationId xmlns:a16="http://schemas.microsoft.com/office/drawing/2014/main" id="{9703A181-A6D8-4D6C-BED5-53E8B56F442C}"/>
              </a:ext>
            </a:extLst>
          </p:cNvPr>
          <p:cNvSpPr>
            <a:spLocks noGrp="1"/>
          </p:cNvSpPr>
          <p:nvPr/>
        </p:nvSpPr>
        <p:spPr>
          <a:xfrm>
            <a:off x="8286750" y="4905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3333" lnSpcReduction="20000"/>
          </a:bodyPr>
          <a:lstStyle/>
          <a:p>
            <a:pPr algn="l">
              <a:buNone/>
              <a:defRPr sz="1500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Why it won</a:t>
            </a:r>
          </a:p>
        </p:txBody>
      </p:sp>
      <p:sp>
        <p:nvSpPr>
          <p:cNvPr id="16" name="text-870-552">
            <a:extLst>
              <a:ext uri="{FF2B5EF4-FFF2-40B4-BE49-F238E27FC236}">
                <a16:creationId xmlns:a16="http://schemas.microsoft.com/office/drawing/2014/main" id="{B2FA9456-828B-4146-8662-D88A5AA2713A}"/>
              </a:ext>
            </a:extLst>
          </p:cNvPr>
          <p:cNvSpPr>
            <a:spLocks noGrp="1"/>
          </p:cNvSpPr>
          <p:nvPr/>
        </p:nvSpPr>
        <p:spPr>
          <a:xfrm>
            <a:off x="8286750" y="52578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38" lnSpcReduction="20000"/>
          </a:bodyPr>
          <a:lstStyle/>
          <a:p>
            <a:pPr algn="l">
              <a:buNone/>
              <a:defRPr sz="1275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Highest recall among feasible candidates; 4% target keeps margin below the 5% deployment gate.</a:t>
            </a:r>
          </a:p>
        </p:txBody>
      </p:sp>
      <p:sp>
        <p:nvSpPr>
          <p:cNvPr id="17" name="text-48-630">
            <a:extLst>
              <a:ext uri="{FF2B5EF4-FFF2-40B4-BE49-F238E27FC236}">
                <a16:creationId xmlns:a16="http://schemas.microsoft.com/office/drawing/2014/main" id="{CD76FC6E-0DC0-4687-ABEB-E44976FEF94D}"/>
              </a:ext>
            </a:extLst>
          </p:cNvPr>
          <p:cNvSpPr>
            <a:spLocks noGrp="1"/>
          </p:cNvSpPr>
          <p:nvPr/>
        </p:nvSpPr>
        <p:spPr>
          <a:xfrm>
            <a:off x="171450" y="5915025"/>
            <a:ext cx="105918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The gain over logistic regression is small—selection is evidence-based, not a claim of a dramatic algorithmic leap.</a:t>
            </a:r>
          </a:p>
        </p:txBody>
      </p:sp>
    </p:spTree>
    <p:extLst>
      <p:ext uri="{BB962C8B-B14F-4D97-AF65-F5344CB8AC3E}">
        <p14:creationId xmlns:p14="http://schemas.microsoft.com/office/powerpoint/2010/main" val="101824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ox-785-300">
            <a:extLst>
              <a:ext uri="{FF2B5EF4-FFF2-40B4-BE49-F238E27FC236}">
                <a16:creationId xmlns:a16="http://schemas.microsoft.com/office/drawing/2014/main" id="{31BAE1F8-7F67-CB23-4138-37ED8961A60F}"/>
              </a:ext>
            </a:extLst>
          </p:cNvPr>
          <p:cNvSpPr>
            <a:spLocks noGrp="1"/>
          </p:cNvSpPr>
          <p:nvPr/>
        </p:nvSpPr>
        <p:spPr>
          <a:xfrm>
            <a:off x="7477125" y="4524375"/>
            <a:ext cx="3905250" cy="1428750"/>
          </a:xfrm>
          <a:prstGeom prst="roundRect">
            <a:avLst>
              <a:gd name="adj" fmla="val 5333"/>
            </a:avLst>
          </a:prstGeom>
          <a:solidFill>
            <a:schemeClr val="tx2">
              <a:lumMod val="10000"/>
              <a:lumOff val="9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-48-32">
            <a:extLst>
              <a:ext uri="{FF2B5EF4-FFF2-40B4-BE49-F238E27FC236}">
                <a16:creationId xmlns:a16="http://schemas.microsoft.com/office/drawing/2014/main" id="{F3844988-2CAE-49D4-8378-79C45326C565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73"/>
          </a:bodyPr>
          <a:lstStyle/>
          <a:p>
            <a:r>
              <a:rPr lang="en-SG" sz="2925" b="1" dirty="0">
                <a:solidFill>
                  <a:srgbClr val="10233E"/>
                </a:solidFill>
                <a:latin typeface="Arial"/>
                <a:cs typeface="Arial"/>
              </a:rPr>
              <a:t>Selecting the Fraud Decision Threshold</a:t>
            </a:r>
            <a:endParaRPr sz="2925" b="1" dirty="0">
              <a:solidFill>
                <a:srgbClr val="10233E"/>
              </a:solidFill>
              <a:latin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F90D33A2-8720-4C42-9E88-162547350291}"/>
              </a:ext>
            </a:extLst>
          </p:cNvPr>
          <p:cNvSpPr>
            <a:spLocks noGrp="1"/>
          </p:cNvSpPr>
          <p:nvPr/>
        </p:nvSpPr>
        <p:spPr>
          <a:xfrm>
            <a:off x="11477625" y="61436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6" name="Chart"/>
          <p:cNvGraphicFramePr/>
          <p:nvPr>
            <p:extLst>
              <p:ext uri="{D42A27DB-BD31-4B8C-83A1-F6EECF244321}">
                <p14:modId xmlns:p14="http://schemas.microsoft.com/office/powerpoint/2010/main" val="603663167"/>
              </p:ext>
            </p:extLst>
          </p:nvPr>
        </p:nvGraphicFramePr>
        <p:xfrm>
          <a:off x="673100" y="1381124"/>
          <a:ext cx="6629400" cy="3927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ox-785-150">
            <a:extLst>
              <a:ext uri="{FF2B5EF4-FFF2-40B4-BE49-F238E27FC236}">
                <a16:creationId xmlns:a16="http://schemas.microsoft.com/office/drawing/2014/main" id="{C95C22FE-6E88-4FC1-8FC4-2181D5F014AB}"/>
              </a:ext>
            </a:extLst>
          </p:cNvPr>
          <p:cNvSpPr>
            <a:spLocks noGrp="1"/>
          </p:cNvSpPr>
          <p:nvPr/>
        </p:nvSpPr>
        <p:spPr>
          <a:xfrm>
            <a:off x="7477125" y="1428750"/>
            <a:ext cx="3905250" cy="1190625"/>
          </a:xfrm>
          <a:prstGeom prst="roundRect">
            <a:avLst>
              <a:gd name="adj" fmla="val 6400"/>
            </a:avLst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815-175">
            <a:extLst>
              <a:ext uri="{FF2B5EF4-FFF2-40B4-BE49-F238E27FC236}">
                <a16:creationId xmlns:a16="http://schemas.microsoft.com/office/drawing/2014/main" id="{12CB8601-161F-4302-95A3-2791DA9BC117}"/>
              </a:ext>
            </a:extLst>
          </p:cNvPr>
          <p:cNvSpPr>
            <a:spLocks noGrp="1"/>
          </p:cNvSpPr>
          <p:nvPr/>
        </p:nvSpPr>
        <p:spPr>
          <a:xfrm>
            <a:off x="7762875" y="1666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833" lnSpcReduction="20000"/>
          </a:bodyPr>
          <a:lstStyle/>
          <a:p>
            <a:pPr algn="l">
              <a:buNone/>
              <a:defRPr sz="180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E65555"/>
                </a:solidFill>
                <a:latin typeface="Arial"/>
                <a:ea typeface="Arial"/>
                <a:cs typeface="Arial"/>
              </a:rPr>
              <a:t>Original 70% recall gate</a:t>
            </a:r>
          </a:p>
        </p:txBody>
      </p:sp>
      <p:sp>
        <p:nvSpPr>
          <p:cNvPr id="6" name="text-815-220">
            <a:extLst>
              <a:ext uri="{FF2B5EF4-FFF2-40B4-BE49-F238E27FC236}">
                <a16:creationId xmlns:a16="http://schemas.microsoft.com/office/drawing/2014/main" id="{02E665E3-123A-4938-966B-7B9755D711BA}"/>
              </a:ext>
            </a:extLst>
          </p:cNvPr>
          <p:cNvSpPr>
            <a:spLocks noGrp="1"/>
          </p:cNvSpPr>
          <p:nvPr/>
        </p:nvSpPr>
        <p:spPr>
          <a:xfrm>
            <a:off x="7569200" y="2074862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4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Not supported after leakage removal.</a:t>
            </a:r>
          </a:p>
        </p:txBody>
      </p:sp>
      <p:sp>
        <p:nvSpPr>
          <p:cNvPr id="7" name="box-785-300">
            <a:extLst>
              <a:ext uri="{FF2B5EF4-FFF2-40B4-BE49-F238E27FC236}">
                <a16:creationId xmlns:a16="http://schemas.microsoft.com/office/drawing/2014/main" id="{D5F5A519-3910-4234-A872-1A49E4A7BBD9}"/>
              </a:ext>
            </a:extLst>
          </p:cNvPr>
          <p:cNvSpPr>
            <a:spLocks noGrp="1"/>
          </p:cNvSpPr>
          <p:nvPr/>
        </p:nvSpPr>
        <p:spPr>
          <a:xfrm>
            <a:off x="7477125" y="2857500"/>
            <a:ext cx="3905250" cy="1428750"/>
          </a:xfrm>
          <a:prstGeom prst="roundRect">
            <a:avLst>
              <a:gd name="adj" fmla="val 5333"/>
            </a:avLst>
          </a:prstGeom>
          <a:solidFill>
            <a:srgbClr val="EAF7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-815-325">
            <a:extLst>
              <a:ext uri="{FF2B5EF4-FFF2-40B4-BE49-F238E27FC236}">
                <a16:creationId xmlns:a16="http://schemas.microsoft.com/office/drawing/2014/main" id="{19125A09-5B7D-4412-90DB-D4BFED3DD791}"/>
              </a:ext>
            </a:extLst>
          </p:cNvPr>
          <p:cNvSpPr>
            <a:spLocks noGrp="1"/>
          </p:cNvSpPr>
          <p:nvPr/>
        </p:nvSpPr>
        <p:spPr>
          <a:xfrm>
            <a:off x="7762875" y="30956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833" lnSpcReduction="20000"/>
          </a:bodyPr>
          <a:lstStyle/>
          <a:p>
            <a:pPr algn="l">
              <a:buNone/>
              <a:defRPr sz="1800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79B72"/>
                </a:solidFill>
                <a:latin typeface="Arial"/>
                <a:ea typeface="Arial"/>
                <a:cs typeface="Arial"/>
              </a:rPr>
              <a:t>Selected operating point</a:t>
            </a:r>
          </a:p>
        </p:txBody>
      </p:sp>
      <p:sp>
        <p:nvSpPr>
          <p:cNvPr id="9" name="text-815-370">
            <a:extLst>
              <a:ext uri="{FF2B5EF4-FFF2-40B4-BE49-F238E27FC236}">
                <a16:creationId xmlns:a16="http://schemas.microsoft.com/office/drawing/2014/main" id="{6926D55B-958A-4850-920D-B17C1F66F553}"/>
              </a:ext>
            </a:extLst>
          </p:cNvPr>
          <p:cNvSpPr>
            <a:spLocks noGrp="1"/>
          </p:cNvSpPr>
          <p:nvPr/>
        </p:nvSpPr>
        <p:spPr>
          <a:xfrm>
            <a:off x="7572375" y="34290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4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Threshold 0.1947</a:t>
            </a:r>
          </a:p>
          <a:p>
            <a:pPr algn="l">
              <a:buNone/>
              <a:defRPr sz="14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Recall 63.12%  |  FPR 3.92%</a:t>
            </a:r>
          </a:p>
          <a:p>
            <a:pPr algn="l">
              <a:buNone/>
              <a:defRPr sz="14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0233E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392 false alerts / 10k legitimate</a:t>
            </a:r>
          </a:p>
        </p:txBody>
      </p:sp>
      <p:sp>
        <p:nvSpPr>
          <p:cNvPr id="10" name="text-785-495">
            <a:extLst>
              <a:ext uri="{FF2B5EF4-FFF2-40B4-BE49-F238E27FC236}">
                <a16:creationId xmlns:a16="http://schemas.microsoft.com/office/drawing/2014/main" id="{6A06CB1E-50DE-4D17-85AC-8E71B7A33710}"/>
              </a:ext>
            </a:extLst>
          </p:cNvPr>
          <p:cNvSpPr>
            <a:spLocks noGrp="1"/>
          </p:cNvSpPr>
          <p:nvPr/>
        </p:nvSpPr>
        <p:spPr>
          <a:xfrm>
            <a:off x="7762875" y="47148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1" name="text-785-535">
            <a:extLst>
              <a:ext uri="{FF2B5EF4-FFF2-40B4-BE49-F238E27FC236}">
                <a16:creationId xmlns:a16="http://schemas.microsoft.com/office/drawing/2014/main" id="{A5930D3A-4144-4A0E-B982-722E0A6FAFA3}"/>
              </a:ext>
            </a:extLst>
          </p:cNvPr>
          <p:cNvSpPr>
            <a:spLocks noGrp="1"/>
          </p:cNvSpPr>
          <p:nvPr/>
        </p:nvSpPr>
        <p:spPr>
          <a:xfrm>
            <a:off x="7569200" y="5000625"/>
            <a:ext cx="38131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2657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Keep the 60% prototype recall gate and 5% final FPR gate; freeze threshold before touching test data.</a:t>
            </a:r>
          </a:p>
        </p:txBody>
      </p:sp>
    </p:spTree>
    <p:extLst>
      <p:ext uri="{BB962C8B-B14F-4D97-AF65-F5344CB8AC3E}">
        <p14:creationId xmlns:p14="http://schemas.microsoft.com/office/powerpoint/2010/main" val="171057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-48-32">
            <a:extLst>
              <a:ext uri="{FF2B5EF4-FFF2-40B4-BE49-F238E27FC236}">
                <a16:creationId xmlns:a16="http://schemas.microsoft.com/office/drawing/2014/main" id="{D3027E26-DA8A-45A1-AB3E-1029CC1F00B2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822"/>
          </a:bodyPr>
          <a:lstStyle/>
          <a:p>
            <a:pPr algn="l">
              <a:buNone/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endParaRPr sz="2925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813F0A44-01A4-4312-8803-D63427D0B28D}"/>
              </a:ext>
            </a:extLst>
          </p:cNvPr>
          <p:cNvSpPr>
            <a:spLocks noGrp="1"/>
          </p:cNvSpPr>
          <p:nvPr/>
        </p:nvSpPr>
        <p:spPr>
          <a:xfrm>
            <a:off x="11477625" y="614362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891277"/>
            <a:ext cx="5715000" cy="5043487"/>
          </a:xfrm>
          <a:prstGeom prst="rect">
            <a:avLst/>
          </a:prstGeom>
        </p:spPr>
      </p:pic>
      <p:sp>
        <p:nvSpPr>
          <p:cNvPr id="4" name="box-700-130">
            <a:extLst>
              <a:ext uri="{FF2B5EF4-FFF2-40B4-BE49-F238E27FC236}">
                <a16:creationId xmlns:a16="http://schemas.microsoft.com/office/drawing/2014/main" id="{F795B319-7B26-4E4E-8090-74D5592BF913}"/>
              </a:ext>
            </a:extLst>
          </p:cNvPr>
          <p:cNvSpPr>
            <a:spLocks noGrp="1"/>
          </p:cNvSpPr>
          <p:nvPr/>
        </p:nvSpPr>
        <p:spPr>
          <a:xfrm>
            <a:off x="6667500" y="1238250"/>
            <a:ext cx="21431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-718-150">
            <a:extLst>
              <a:ext uri="{FF2B5EF4-FFF2-40B4-BE49-F238E27FC236}">
                <a16:creationId xmlns:a16="http://schemas.microsoft.com/office/drawing/2014/main" id="{09CCB8B9-C837-4C23-A63D-87682B104688}"/>
              </a:ext>
            </a:extLst>
          </p:cNvPr>
          <p:cNvSpPr>
            <a:spLocks noGrp="1"/>
          </p:cNvSpPr>
          <p:nvPr/>
        </p:nvSpPr>
        <p:spPr>
          <a:xfrm>
            <a:off x="6838950" y="1428750"/>
            <a:ext cx="18002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79B72"/>
                </a:solidFill>
                <a:latin typeface="Arial"/>
                <a:ea typeface="Arial"/>
                <a:cs typeface="Arial"/>
              </a:rPr>
              <a:t>2,046</a:t>
            </a:r>
          </a:p>
        </p:txBody>
      </p:sp>
      <p:sp>
        <p:nvSpPr>
          <p:cNvPr id="6" name="text-718-214">
            <a:extLst>
              <a:ext uri="{FF2B5EF4-FFF2-40B4-BE49-F238E27FC236}">
                <a16:creationId xmlns:a16="http://schemas.microsoft.com/office/drawing/2014/main" id="{BD7087DC-FA70-4867-A622-C9AB3624740B}"/>
              </a:ext>
            </a:extLst>
          </p:cNvPr>
          <p:cNvSpPr>
            <a:spLocks noGrp="1"/>
          </p:cNvSpPr>
          <p:nvPr/>
        </p:nvSpPr>
        <p:spPr>
          <a:xfrm>
            <a:off x="6838950" y="2038350"/>
            <a:ext cx="1800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fraud caught</a:t>
            </a:r>
          </a:p>
        </p:txBody>
      </p:sp>
      <p:sp>
        <p:nvSpPr>
          <p:cNvPr id="7" name="box-950-130">
            <a:extLst>
              <a:ext uri="{FF2B5EF4-FFF2-40B4-BE49-F238E27FC236}">
                <a16:creationId xmlns:a16="http://schemas.microsoft.com/office/drawing/2014/main" id="{68AE31E4-3768-4B90-8B03-193FE71E840F}"/>
              </a:ext>
            </a:extLst>
          </p:cNvPr>
          <p:cNvSpPr>
            <a:spLocks noGrp="1"/>
          </p:cNvSpPr>
          <p:nvPr/>
        </p:nvSpPr>
        <p:spPr>
          <a:xfrm>
            <a:off x="9048750" y="1238250"/>
            <a:ext cx="21431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-968-150">
            <a:extLst>
              <a:ext uri="{FF2B5EF4-FFF2-40B4-BE49-F238E27FC236}">
                <a16:creationId xmlns:a16="http://schemas.microsoft.com/office/drawing/2014/main" id="{B30AD41C-6564-44D1-92A4-F39920A13623}"/>
              </a:ext>
            </a:extLst>
          </p:cNvPr>
          <p:cNvSpPr>
            <a:spLocks noGrp="1"/>
          </p:cNvSpPr>
          <p:nvPr/>
        </p:nvSpPr>
        <p:spPr>
          <a:xfrm>
            <a:off x="9220200" y="1428750"/>
            <a:ext cx="18002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1,167</a:t>
            </a:r>
          </a:p>
        </p:txBody>
      </p:sp>
      <p:sp>
        <p:nvSpPr>
          <p:cNvPr id="9" name="text-968-214">
            <a:extLst>
              <a:ext uri="{FF2B5EF4-FFF2-40B4-BE49-F238E27FC236}">
                <a16:creationId xmlns:a16="http://schemas.microsoft.com/office/drawing/2014/main" id="{0B73B2B9-8C03-4458-AFB5-DAA511F4F20A}"/>
              </a:ext>
            </a:extLst>
          </p:cNvPr>
          <p:cNvSpPr>
            <a:spLocks noGrp="1"/>
          </p:cNvSpPr>
          <p:nvPr/>
        </p:nvSpPr>
        <p:spPr>
          <a:xfrm>
            <a:off x="9220200" y="2038350"/>
            <a:ext cx="1800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fraud missed</a:t>
            </a:r>
          </a:p>
        </p:txBody>
      </p:sp>
      <p:sp>
        <p:nvSpPr>
          <p:cNvPr id="10" name="box-700-310">
            <a:extLst>
              <a:ext uri="{FF2B5EF4-FFF2-40B4-BE49-F238E27FC236}">
                <a16:creationId xmlns:a16="http://schemas.microsoft.com/office/drawing/2014/main" id="{7AD09AF9-0C85-4BAA-848A-7C980861898B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21431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-718-330">
            <a:extLst>
              <a:ext uri="{FF2B5EF4-FFF2-40B4-BE49-F238E27FC236}">
                <a16:creationId xmlns:a16="http://schemas.microsoft.com/office/drawing/2014/main" id="{8D42552A-E24B-44EB-BE8B-E705A7BC93C7}"/>
              </a:ext>
            </a:extLst>
          </p:cNvPr>
          <p:cNvSpPr>
            <a:spLocks noGrp="1"/>
          </p:cNvSpPr>
          <p:nvPr/>
        </p:nvSpPr>
        <p:spPr>
          <a:xfrm>
            <a:off x="6838950" y="3143250"/>
            <a:ext cx="18002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272</a:t>
            </a:r>
          </a:p>
        </p:txBody>
      </p:sp>
      <p:sp>
        <p:nvSpPr>
          <p:cNvPr id="12" name="text-718-394">
            <a:extLst>
              <a:ext uri="{FF2B5EF4-FFF2-40B4-BE49-F238E27FC236}">
                <a16:creationId xmlns:a16="http://schemas.microsoft.com/office/drawing/2014/main" id="{F9C4EF52-6825-4782-83A9-B3C2ADFC002C}"/>
              </a:ext>
            </a:extLst>
          </p:cNvPr>
          <p:cNvSpPr>
            <a:spLocks noGrp="1"/>
          </p:cNvSpPr>
          <p:nvPr/>
        </p:nvSpPr>
        <p:spPr>
          <a:xfrm>
            <a:off x="6838950" y="3752850"/>
            <a:ext cx="1800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false alerts</a:t>
            </a:r>
          </a:p>
        </p:txBody>
      </p:sp>
      <p:sp>
        <p:nvSpPr>
          <p:cNvPr id="13" name="box-950-310">
            <a:extLst>
              <a:ext uri="{FF2B5EF4-FFF2-40B4-BE49-F238E27FC236}">
                <a16:creationId xmlns:a16="http://schemas.microsoft.com/office/drawing/2014/main" id="{5D0BEB2E-83AE-413D-9D5D-47D6A0CCDD95}"/>
              </a:ext>
            </a:extLst>
          </p:cNvPr>
          <p:cNvSpPr>
            <a:spLocks noGrp="1"/>
          </p:cNvSpPr>
          <p:nvPr/>
        </p:nvSpPr>
        <p:spPr>
          <a:xfrm>
            <a:off x="9048750" y="2952750"/>
            <a:ext cx="2143125" cy="142875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-968-330">
            <a:extLst>
              <a:ext uri="{FF2B5EF4-FFF2-40B4-BE49-F238E27FC236}">
                <a16:creationId xmlns:a16="http://schemas.microsoft.com/office/drawing/2014/main" id="{EA20261B-72E1-452C-9737-6B89F3AEADEB}"/>
              </a:ext>
            </a:extLst>
          </p:cNvPr>
          <p:cNvSpPr>
            <a:spLocks noGrp="1"/>
          </p:cNvSpPr>
          <p:nvPr/>
        </p:nvSpPr>
        <p:spPr>
          <a:xfrm>
            <a:off x="9220200" y="3143250"/>
            <a:ext cx="18002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6,515</a:t>
            </a:r>
          </a:p>
        </p:txBody>
      </p:sp>
      <p:sp>
        <p:nvSpPr>
          <p:cNvPr id="15" name="text-968-394">
            <a:extLst>
              <a:ext uri="{FF2B5EF4-FFF2-40B4-BE49-F238E27FC236}">
                <a16:creationId xmlns:a16="http://schemas.microsoft.com/office/drawing/2014/main" id="{BA84A3BA-71B4-489F-90D4-935621B8047D}"/>
              </a:ext>
            </a:extLst>
          </p:cNvPr>
          <p:cNvSpPr>
            <a:spLocks noGrp="1"/>
          </p:cNvSpPr>
          <p:nvPr/>
        </p:nvSpPr>
        <p:spPr>
          <a:xfrm>
            <a:off x="9220200" y="3752850"/>
            <a:ext cx="1800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legitimate cleared</a:t>
            </a:r>
          </a:p>
        </p:txBody>
      </p:sp>
      <p:sp>
        <p:nvSpPr>
          <p:cNvPr id="16" name="box-700-495">
            <a:extLst>
              <a:ext uri="{FF2B5EF4-FFF2-40B4-BE49-F238E27FC236}">
                <a16:creationId xmlns:a16="http://schemas.microsoft.com/office/drawing/2014/main" id="{7CD5B680-FA91-4477-B00A-F460455BB796}"/>
              </a:ext>
            </a:extLst>
          </p:cNvPr>
          <p:cNvSpPr>
            <a:spLocks noGrp="1"/>
          </p:cNvSpPr>
          <p:nvPr/>
        </p:nvSpPr>
        <p:spPr>
          <a:xfrm>
            <a:off x="6667500" y="4714875"/>
            <a:ext cx="4524375" cy="990600"/>
          </a:xfrm>
          <a:prstGeom prst="roundRect">
            <a:avLst>
              <a:gd name="adj" fmla="val 7692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-725-520">
            <a:extLst>
              <a:ext uri="{FF2B5EF4-FFF2-40B4-BE49-F238E27FC236}">
                <a16:creationId xmlns:a16="http://schemas.microsoft.com/office/drawing/2014/main" id="{19878550-DDBC-49D3-A429-B61BBFEDDFD9}"/>
              </a:ext>
            </a:extLst>
          </p:cNvPr>
          <p:cNvSpPr>
            <a:spLocks noGrp="1"/>
          </p:cNvSpPr>
          <p:nvPr/>
        </p:nvSpPr>
        <p:spPr>
          <a:xfrm>
            <a:off x="6905625" y="4953000"/>
            <a:ext cx="404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Test recall ≈ 63.68%  •  Test FPR ≈ 4.01%</a:t>
            </a:r>
          </a:p>
        </p:txBody>
      </p:sp>
      <p:sp>
        <p:nvSpPr>
          <p:cNvPr id="18" name="text-725-560">
            <a:extLst>
              <a:ext uri="{FF2B5EF4-FFF2-40B4-BE49-F238E27FC236}">
                <a16:creationId xmlns:a16="http://schemas.microsoft.com/office/drawing/2014/main" id="{4AF6BF7F-0D71-452D-90A2-EDC88AC80C02}"/>
              </a:ext>
            </a:extLst>
          </p:cNvPr>
          <p:cNvSpPr>
            <a:spLocks noGrp="1"/>
          </p:cNvSpPr>
          <p:nvPr/>
        </p:nvSpPr>
        <p:spPr>
          <a:xfrm>
            <a:off x="6905625" y="53340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67" lnSpcReduction="20000"/>
          </a:bodyPr>
          <a:lstStyle/>
          <a:p>
            <a:pPr algn="l">
              <a:buNone/>
              <a:defRPr sz="1350" b="1">
                <a:solidFill>
                  <a:srgbClr val="279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9B72"/>
                </a:solidFill>
                <a:latin typeface="Arial"/>
                <a:ea typeface="Arial"/>
                <a:cs typeface="Arial"/>
              </a:rPr>
              <a:t>Within the 5% deployment FPR gate.</a:t>
            </a:r>
          </a:p>
        </p:txBody>
      </p:sp>
      <p:sp>
        <p:nvSpPr>
          <p:cNvPr id="19" name="text-48-630">
            <a:extLst>
              <a:ext uri="{FF2B5EF4-FFF2-40B4-BE49-F238E27FC236}">
                <a16:creationId xmlns:a16="http://schemas.microsoft.com/office/drawing/2014/main" id="{692C3ADD-EEE5-4006-B950-4936264D30D1}"/>
              </a:ext>
            </a:extLst>
          </p:cNvPr>
          <p:cNvSpPr>
            <a:spLocks noGrp="1"/>
          </p:cNvSpPr>
          <p:nvPr/>
        </p:nvSpPr>
        <p:spPr>
          <a:xfrm>
            <a:off x="238125" y="6000749"/>
            <a:ext cx="11334749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</a:pPr>
            <a:r>
              <a:rPr sz="1500" b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Error implication: false negatives remain the main residual risk; the app should support human review and feedback-driven retraining.</a:t>
            </a:r>
          </a:p>
        </p:txBody>
      </p:sp>
      <p:sp>
        <p:nvSpPr>
          <p:cNvPr id="23" name="text-48-32">
            <a:extLst>
              <a:ext uri="{FF2B5EF4-FFF2-40B4-BE49-F238E27FC236}">
                <a16:creationId xmlns:a16="http://schemas.microsoft.com/office/drawing/2014/main" id="{2D0C1BD8-731D-ED99-0E94-F2B7647BBB67}"/>
              </a:ext>
            </a:extLst>
          </p:cNvPr>
          <p:cNvSpPr>
            <a:spLocks noGrp="1"/>
          </p:cNvSpPr>
          <p:nvPr/>
        </p:nvSpPr>
        <p:spPr>
          <a:xfrm>
            <a:off x="571500" y="283131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473"/>
          </a:bodyPr>
          <a:lstStyle/>
          <a:p>
            <a:r>
              <a:rPr lang="en-SG" sz="2925" b="1" dirty="0">
                <a:solidFill>
                  <a:srgbClr val="10233E"/>
                </a:solidFill>
                <a:latin typeface="Arial"/>
                <a:cs typeface="Arial"/>
              </a:rPr>
              <a:t>Final Model Evaluation &amp; Test Results</a:t>
            </a:r>
          </a:p>
        </p:txBody>
      </p:sp>
    </p:spTree>
    <p:extLst>
      <p:ext uri="{BB962C8B-B14F-4D97-AF65-F5344CB8AC3E}">
        <p14:creationId xmlns:p14="http://schemas.microsoft.com/office/powerpoint/2010/main" val="1775583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-48-32">
            <a:extLst>
              <a:ext uri="{FF2B5EF4-FFF2-40B4-BE49-F238E27FC236}">
                <a16:creationId xmlns:a16="http://schemas.microsoft.com/office/drawing/2014/main" id="{B1C28D6C-DED3-44F2-A94B-ACECF8AE3C68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078"/>
          </a:bodyPr>
          <a:lstStyle/>
          <a:p>
            <a:pPr>
              <a:buNone/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SageMaker/MLflow pipeline</a:t>
            </a: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5C6F0A72-5179-42D2-B03A-989E6D937449}"/>
              </a:ext>
            </a:extLst>
          </p:cNvPr>
          <p:cNvSpPr>
            <a:spLocks noGrp="1"/>
          </p:cNvSpPr>
          <p:nvPr/>
        </p:nvSpPr>
        <p:spPr>
          <a:xfrm>
            <a:off x="11496675" y="61245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265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44" name="Straight Arrow Connector 35"/>
          <p:cNvCxnSpPr/>
          <p:nvPr/>
        </p:nvCxnSpPr>
        <p:spPr>
          <a:xfrm>
            <a:off x="1762125" y="1838325"/>
            <a:ext cx="762000" cy="0"/>
          </a:xfrm>
          <a:prstGeom prst="straightConnector1">
            <a:avLst/>
          </a:prstGeom>
          <a:ln w="28575">
            <a:solidFill>
              <a:srgbClr val="CFD8E3"/>
            </a:solidFill>
            <a:prstDash val="solid"/>
          </a:ln>
        </p:spPr>
      </p:cxnSp>
      <p:cxnSp>
        <p:nvCxnSpPr>
          <p:cNvPr id="45" name="Straight Arrow Connector 36"/>
          <p:cNvCxnSpPr/>
          <p:nvPr/>
        </p:nvCxnSpPr>
        <p:spPr>
          <a:xfrm>
            <a:off x="3714750" y="1838325"/>
            <a:ext cx="762000" cy="0"/>
          </a:xfrm>
          <a:prstGeom prst="straightConnector1">
            <a:avLst/>
          </a:prstGeom>
          <a:ln w="28575">
            <a:solidFill>
              <a:srgbClr val="CFD8E3"/>
            </a:solidFill>
            <a:prstDash val="solid"/>
          </a:ln>
        </p:spPr>
      </p:cxnSp>
      <p:cxnSp>
        <p:nvCxnSpPr>
          <p:cNvPr id="46" name="Straight Arrow Connector 37"/>
          <p:cNvCxnSpPr/>
          <p:nvPr/>
        </p:nvCxnSpPr>
        <p:spPr>
          <a:xfrm>
            <a:off x="5667375" y="1838325"/>
            <a:ext cx="762000" cy="0"/>
          </a:xfrm>
          <a:prstGeom prst="straightConnector1">
            <a:avLst/>
          </a:prstGeom>
          <a:ln w="28575">
            <a:solidFill>
              <a:srgbClr val="CFD8E3"/>
            </a:solidFill>
            <a:prstDash val="solid"/>
          </a:ln>
        </p:spPr>
      </p:cxnSp>
      <p:cxnSp>
        <p:nvCxnSpPr>
          <p:cNvPr id="47" name="Straight Arrow Connector 38"/>
          <p:cNvCxnSpPr/>
          <p:nvPr/>
        </p:nvCxnSpPr>
        <p:spPr>
          <a:xfrm>
            <a:off x="7620000" y="1838325"/>
            <a:ext cx="762000" cy="0"/>
          </a:xfrm>
          <a:prstGeom prst="straightConnector1">
            <a:avLst/>
          </a:prstGeom>
          <a:ln w="28575">
            <a:solidFill>
              <a:srgbClr val="CFD8E3"/>
            </a:solidFill>
            <a:prstDash val="solid"/>
          </a:ln>
        </p:spPr>
      </p:cxnSp>
      <p:cxnSp>
        <p:nvCxnSpPr>
          <p:cNvPr id="48" name="Straight Arrow Connector 39"/>
          <p:cNvCxnSpPr/>
          <p:nvPr/>
        </p:nvCxnSpPr>
        <p:spPr>
          <a:xfrm>
            <a:off x="9572625" y="1838325"/>
            <a:ext cx="762000" cy="0"/>
          </a:xfrm>
          <a:prstGeom prst="straightConnector1">
            <a:avLst/>
          </a:prstGeom>
          <a:ln w="28575">
            <a:solidFill>
              <a:srgbClr val="CFD8E3"/>
            </a:solidFill>
            <a:prstDash val="solid"/>
          </a:ln>
        </p:spPr>
      </p:cxnSp>
      <p:sp>
        <p:nvSpPr>
          <p:cNvPr id="8" name="box-48-215">
            <a:extLst>
              <a:ext uri="{FF2B5EF4-FFF2-40B4-BE49-F238E27FC236}">
                <a16:creationId xmlns:a16="http://schemas.microsoft.com/office/drawing/2014/main" id="{38F1D139-0D36-4D03-B103-88C8F3EFD902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-63-232">
            <a:extLst>
              <a:ext uri="{FF2B5EF4-FFF2-40B4-BE49-F238E27FC236}">
                <a16:creationId xmlns:a16="http://schemas.microsoft.com/office/drawing/2014/main" id="{ACFF8D8E-D792-4D83-B6BE-E1C9F4EFF092}"/>
              </a:ext>
            </a:extLst>
          </p:cNvPr>
          <p:cNvSpPr>
            <a:spLocks noGrp="1"/>
          </p:cNvSpPr>
          <p:nvPr/>
        </p:nvSpPr>
        <p:spPr>
          <a:xfrm>
            <a:off x="600075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-63-274">
            <a:extLst>
              <a:ext uri="{FF2B5EF4-FFF2-40B4-BE49-F238E27FC236}">
                <a16:creationId xmlns:a16="http://schemas.microsoft.com/office/drawing/2014/main" id="{9047506E-8287-4047-A41E-15FD1EB580E4}"/>
              </a:ext>
            </a:extLst>
          </p:cNvPr>
          <p:cNvSpPr>
            <a:spLocks noGrp="1"/>
          </p:cNvSpPr>
          <p:nvPr/>
        </p:nvSpPr>
        <p:spPr>
          <a:xfrm>
            <a:off x="600075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711" lnSpcReduction="10000"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Audit + preprocess</a:t>
            </a:r>
          </a:p>
        </p:txBody>
      </p:sp>
      <p:sp>
        <p:nvSpPr>
          <p:cNvPr id="11" name="text-63-336">
            <a:extLst>
              <a:ext uri="{FF2B5EF4-FFF2-40B4-BE49-F238E27FC236}">
                <a16:creationId xmlns:a16="http://schemas.microsoft.com/office/drawing/2014/main" id="{98A844D1-264D-4A74-9164-747BAF9039F5}"/>
              </a:ext>
            </a:extLst>
          </p:cNvPr>
          <p:cNvSpPr>
            <a:spLocks noGrp="1"/>
          </p:cNvSpPr>
          <p:nvPr/>
        </p:nvSpPr>
        <p:spPr>
          <a:xfrm>
            <a:off x="600075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4041" lnSpcReduction="20000"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S3 versioned data</a:t>
            </a:r>
          </a:p>
        </p:txBody>
      </p:sp>
      <p:sp>
        <p:nvSpPr>
          <p:cNvPr id="12" name="box-253-215">
            <a:extLst>
              <a:ext uri="{FF2B5EF4-FFF2-40B4-BE49-F238E27FC236}">
                <a16:creationId xmlns:a16="http://schemas.microsoft.com/office/drawing/2014/main" id="{1F62C58F-3D40-438B-8653-2E576865B16F}"/>
              </a:ext>
            </a:extLst>
          </p:cNvPr>
          <p:cNvSpPr>
            <a:spLocks noGrp="1"/>
          </p:cNvSpPr>
          <p:nvPr/>
        </p:nvSpPr>
        <p:spPr>
          <a:xfrm>
            <a:off x="2409825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-268-232">
            <a:extLst>
              <a:ext uri="{FF2B5EF4-FFF2-40B4-BE49-F238E27FC236}">
                <a16:creationId xmlns:a16="http://schemas.microsoft.com/office/drawing/2014/main" id="{C2EA4939-72C5-43D0-9283-1760B756036D}"/>
              </a:ext>
            </a:extLst>
          </p:cNvPr>
          <p:cNvSpPr>
            <a:spLocks noGrp="1"/>
          </p:cNvSpPr>
          <p:nvPr/>
        </p:nvSpPr>
        <p:spPr>
          <a:xfrm>
            <a:off x="2552700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-268-274">
            <a:extLst>
              <a:ext uri="{FF2B5EF4-FFF2-40B4-BE49-F238E27FC236}">
                <a16:creationId xmlns:a16="http://schemas.microsoft.com/office/drawing/2014/main" id="{234D132A-5AB1-44D1-9C49-6E3C96F68946}"/>
              </a:ext>
            </a:extLst>
          </p:cNvPr>
          <p:cNvSpPr>
            <a:spLocks noGrp="1"/>
          </p:cNvSpPr>
          <p:nvPr/>
        </p:nvSpPr>
        <p:spPr>
          <a:xfrm>
            <a:off x="2552700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711" lnSpcReduction="10000"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Train candidates</a:t>
            </a:r>
          </a:p>
        </p:txBody>
      </p:sp>
      <p:sp>
        <p:nvSpPr>
          <p:cNvPr id="15" name="text-268-336">
            <a:extLst>
              <a:ext uri="{FF2B5EF4-FFF2-40B4-BE49-F238E27FC236}">
                <a16:creationId xmlns:a16="http://schemas.microsoft.com/office/drawing/2014/main" id="{54E76779-46ED-40AF-BA26-CA02B57F4079}"/>
              </a:ext>
            </a:extLst>
          </p:cNvPr>
          <p:cNvSpPr>
            <a:spLocks noGrp="1"/>
          </p:cNvSpPr>
          <p:nvPr/>
        </p:nvSpPr>
        <p:spPr>
          <a:xfrm>
            <a:off x="2552700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LR + XGBoost</a:t>
            </a:r>
          </a:p>
        </p:txBody>
      </p:sp>
      <p:sp>
        <p:nvSpPr>
          <p:cNvPr id="16" name="box-458-215">
            <a:extLst>
              <a:ext uri="{FF2B5EF4-FFF2-40B4-BE49-F238E27FC236}">
                <a16:creationId xmlns:a16="http://schemas.microsoft.com/office/drawing/2014/main" id="{B8DD51AD-8A11-4F77-996D-318E8C3BC027}"/>
              </a:ext>
            </a:extLst>
          </p:cNvPr>
          <p:cNvSpPr>
            <a:spLocks noGrp="1"/>
          </p:cNvSpPr>
          <p:nvPr/>
        </p:nvSpPr>
        <p:spPr>
          <a:xfrm>
            <a:off x="4362450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-473-232">
            <a:extLst>
              <a:ext uri="{FF2B5EF4-FFF2-40B4-BE49-F238E27FC236}">
                <a16:creationId xmlns:a16="http://schemas.microsoft.com/office/drawing/2014/main" id="{4349C40B-C782-4F04-8888-BDB96854B867}"/>
              </a:ext>
            </a:extLst>
          </p:cNvPr>
          <p:cNvSpPr>
            <a:spLocks noGrp="1"/>
          </p:cNvSpPr>
          <p:nvPr/>
        </p:nvSpPr>
        <p:spPr>
          <a:xfrm>
            <a:off x="4505325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ext-473-274">
            <a:extLst>
              <a:ext uri="{FF2B5EF4-FFF2-40B4-BE49-F238E27FC236}">
                <a16:creationId xmlns:a16="http://schemas.microsoft.com/office/drawing/2014/main" id="{C2F4E2B8-993B-4845-A3BA-446313352350}"/>
              </a:ext>
            </a:extLst>
          </p:cNvPr>
          <p:cNvSpPr>
            <a:spLocks noGrp="1"/>
          </p:cNvSpPr>
          <p:nvPr/>
        </p:nvSpPr>
        <p:spPr>
          <a:xfrm>
            <a:off x="4505325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711" lnSpcReduction="10000"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Track + compare</a:t>
            </a:r>
          </a:p>
        </p:txBody>
      </p:sp>
      <p:sp>
        <p:nvSpPr>
          <p:cNvPr id="19" name="text-473-336">
            <a:extLst>
              <a:ext uri="{FF2B5EF4-FFF2-40B4-BE49-F238E27FC236}">
                <a16:creationId xmlns:a16="http://schemas.microsoft.com/office/drawing/2014/main" id="{9488D41B-7A72-4457-872B-CBF0A2220D73}"/>
              </a:ext>
            </a:extLst>
          </p:cNvPr>
          <p:cNvSpPr>
            <a:spLocks noGrp="1"/>
          </p:cNvSpPr>
          <p:nvPr/>
        </p:nvSpPr>
        <p:spPr>
          <a:xfrm>
            <a:off x="4505325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MLflow runs</a:t>
            </a:r>
          </a:p>
        </p:txBody>
      </p:sp>
      <p:sp>
        <p:nvSpPr>
          <p:cNvPr id="20" name="box-663-215">
            <a:extLst>
              <a:ext uri="{FF2B5EF4-FFF2-40B4-BE49-F238E27FC236}">
                <a16:creationId xmlns:a16="http://schemas.microsoft.com/office/drawing/2014/main" id="{B5A01A4C-C7FB-4FC2-B44C-E91BA56AE21E}"/>
              </a:ext>
            </a:extLst>
          </p:cNvPr>
          <p:cNvSpPr>
            <a:spLocks noGrp="1"/>
          </p:cNvSpPr>
          <p:nvPr/>
        </p:nvSpPr>
        <p:spPr>
          <a:xfrm>
            <a:off x="6315075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FF0F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-678-232">
            <a:extLst>
              <a:ext uri="{FF2B5EF4-FFF2-40B4-BE49-F238E27FC236}">
                <a16:creationId xmlns:a16="http://schemas.microsoft.com/office/drawing/2014/main" id="{A5C288DF-B9C3-44F1-BE1A-41D55779AE70}"/>
              </a:ext>
            </a:extLst>
          </p:cNvPr>
          <p:cNvSpPr>
            <a:spLocks noGrp="1"/>
          </p:cNvSpPr>
          <p:nvPr/>
        </p:nvSpPr>
        <p:spPr>
          <a:xfrm>
            <a:off x="6457950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-678-274">
            <a:extLst>
              <a:ext uri="{FF2B5EF4-FFF2-40B4-BE49-F238E27FC236}">
                <a16:creationId xmlns:a16="http://schemas.microsoft.com/office/drawing/2014/main" id="{E2B9344C-8C6F-47DA-ABF5-B440AB20BFEE}"/>
              </a:ext>
            </a:extLst>
          </p:cNvPr>
          <p:cNvSpPr>
            <a:spLocks noGrp="1"/>
          </p:cNvSpPr>
          <p:nvPr/>
        </p:nvSpPr>
        <p:spPr>
          <a:xfrm>
            <a:off x="6457950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539"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23" name="text-678-336">
            <a:extLst>
              <a:ext uri="{FF2B5EF4-FFF2-40B4-BE49-F238E27FC236}">
                <a16:creationId xmlns:a16="http://schemas.microsoft.com/office/drawing/2014/main" id="{06D168AA-271D-4C4A-9A53-C187F4FC4627}"/>
              </a:ext>
            </a:extLst>
          </p:cNvPr>
          <p:cNvSpPr>
            <a:spLocks noGrp="1"/>
          </p:cNvSpPr>
          <p:nvPr/>
        </p:nvSpPr>
        <p:spPr>
          <a:xfrm>
            <a:off x="6457950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Recall / FPR</a:t>
            </a:r>
          </a:p>
        </p:txBody>
      </p:sp>
      <p:sp>
        <p:nvSpPr>
          <p:cNvPr id="24" name="box-868-215">
            <a:extLst>
              <a:ext uri="{FF2B5EF4-FFF2-40B4-BE49-F238E27FC236}">
                <a16:creationId xmlns:a16="http://schemas.microsoft.com/office/drawing/2014/main" id="{3CA358DC-A196-4386-B825-503719D4C3AA}"/>
              </a:ext>
            </a:extLst>
          </p:cNvPr>
          <p:cNvSpPr>
            <a:spLocks noGrp="1"/>
          </p:cNvSpPr>
          <p:nvPr/>
        </p:nvSpPr>
        <p:spPr>
          <a:xfrm>
            <a:off x="8267700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-883-232">
            <a:extLst>
              <a:ext uri="{FF2B5EF4-FFF2-40B4-BE49-F238E27FC236}">
                <a16:creationId xmlns:a16="http://schemas.microsoft.com/office/drawing/2014/main" id="{F56AEDFE-01B9-46D3-873B-E7C5FCCF7176}"/>
              </a:ext>
            </a:extLst>
          </p:cNvPr>
          <p:cNvSpPr>
            <a:spLocks noGrp="1"/>
          </p:cNvSpPr>
          <p:nvPr/>
        </p:nvSpPr>
        <p:spPr>
          <a:xfrm>
            <a:off x="8410575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text-883-274">
            <a:extLst>
              <a:ext uri="{FF2B5EF4-FFF2-40B4-BE49-F238E27FC236}">
                <a16:creationId xmlns:a16="http://schemas.microsoft.com/office/drawing/2014/main" id="{1BFFA5F0-5119-4DAF-B4BB-C629735CB04A}"/>
              </a:ext>
            </a:extLst>
          </p:cNvPr>
          <p:cNvSpPr>
            <a:spLocks noGrp="1"/>
          </p:cNvSpPr>
          <p:nvPr/>
        </p:nvSpPr>
        <p:spPr>
          <a:xfrm>
            <a:off x="8410575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27" name="text-883-336">
            <a:extLst>
              <a:ext uri="{FF2B5EF4-FFF2-40B4-BE49-F238E27FC236}">
                <a16:creationId xmlns:a16="http://schemas.microsoft.com/office/drawing/2014/main" id="{C20F675E-24E5-4374-9A9F-F71508B3A9FA}"/>
              </a:ext>
            </a:extLst>
          </p:cNvPr>
          <p:cNvSpPr>
            <a:spLocks noGrp="1"/>
          </p:cNvSpPr>
          <p:nvPr/>
        </p:nvSpPr>
        <p:spPr>
          <a:xfrm>
            <a:off x="8410575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4666" lnSpcReduction="20000"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SageMaker package</a:t>
            </a:r>
          </a:p>
        </p:txBody>
      </p:sp>
      <p:sp>
        <p:nvSpPr>
          <p:cNvPr id="28" name="box-1073-215">
            <a:extLst>
              <a:ext uri="{FF2B5EF4-FFF2-40B4-BE49-F238E27FC236}">
                <a16:creationId xmlns:a16="http://schemas.microsoft.com/office/drawing/2014/main" id="{CC2E0E7E-7826-4AFE-AFE7-FA2D6B2943D6}"/>
              </a:ext>
            </a:extLst>
          </p:cNvPr>
          <p:cNvSpPr>
            <a:spLocks noGrp="1"/>
          </p:cNvSpPr>
          <p:nvPr/>
        </p:nvSpPr>
        <p:spPr>
          <a:xfrm>
            <a:off x="10220325" y="1219200"/>
            <a:ext cx="1476375" cy="161925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-1088-232">
            <a:extLst>
              <a:ext uri="{FF2B5EF4-FFF2-40B4-BE49-F238E27FC236}">
                <a16:creationId xmlns:a16="http://schemas.microsoft.com/office/drawing/2014/main" id="{70FE7A25-1252-49DB-8E88-B6C8B4E042F5}"/>
              </a:ext>
            </a:extLst>
          </p:cNvPr>
          <p:cNvSpPr>
            <a:spLocks noGrp="1"/>
          </p:cNvSpPr>
          <p:nvPr/>
        </p:nvSpPr>
        <p:spPr>
          <a:xfrm>
            <a:off x="10363200" y="13811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500" lnSpcReduction="10000"/>
          </a:bodyPr>
          <a:lstStyle/>
          <a:p>
            <a:pPr algn="l"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text-1088-274">
            <a:extLst>
              <a:ext uri="{FF2B5EF4-FFF2-40B4-BE49-F238E27FC236}">
                <a16:creationId xmlns:a16="http://schemas.microsoft.com/office/drawing/2014/main" id="{A2B4AA9A-30AD-4CBA-89F4-A1418E3C8494}"/>
              </a:ext>
            </a:extLst>
          </p:cNvPr>
          <p:cNvSpPr>
            <a:spLocks noGrp="1"/>
          </p:cNvSpPr>
          <p:nvPr/>
        </p:nvSpPr>
        <p:spPr>
          <a:xfrm>
            <a:off x="10363200" y="1781175"/>
            <a:ext cx="1190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711" lnSpcReduction="10000"/>
          </a:bodyPr>
          <a:lstStyle/>
          <a:p>
            <a:pPr algn="l">
              <a:buNone/>
              <a:defRPr sz="14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Approve + deploy</a:t>
            </a:r>
          </a:p>
        </p:txBody>
      </p:sp>
      <p:sp>
        <p:nvSpPr>
          <p:cNvPr id="31" name="text-1088-336">
            <a:extLst>
              <a:ext uri="{FF2B5EF4-FFF2-40B4-BE49-F238E27FC236}">
                <a16:creationId xmlns:a16="http://schemas.microsoft.com/office/drawing/2014/main" id="{8AD675CE-0922-4023-AD8C-BB09AF11741F}"/>
              </a:ext>
            </a:extLst>
          </p:cNvPr>
          <p:cNvSpPr>
            <a:spLocks noGrp="1"/>
          </p:cNvSpPr>
          <p:nvPr/>
        </p:nvSpPr>
        <p:spPr>
          <a:xfrm>
            <a:off x="10363200" y="2371725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509" lnSpcReduction="20000"/>
          </a:bodyPr>
          <a:lstStyle/>
          <a:p>
            <a:pPr algn="l">
              <a:buNone/>
              <a:defRPr sz="120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A"/>
                </a:solidFill>
                <a:latin typeface="Arial"/>
                <a:ea typeface="Arial"/>
                <a:cs typeface="Arial"/>
              </a:rPr>
              <a:t>Manual promotion</a:t>
            </a:r>
          </a:p>
        </p:txBody>
      </p:sp>
      <p:pic>
        <p:nvPicPr>
          <p:cNvPr id="73" name="Picture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088" y="2981324"/>
            <a:ext cx="9130083" cy="2790821"/>
          </a:xfrm>
          <a:prstGeom prst="rect">
            <a:avLst/>
          </a:prstGeom>
        </p:spPr>
      </p:pic>
      <p:sp>
        <p:nvSpPr>
          <p:cNvPr id="33" name="text-48-635">
            <a:extLst>
              <a:ext uri="{FF2B5EF4-FFF2-40B4-BE49-F238E27FC236}">
                <a16:creationId xmlns:a16="http://schemas.microsoft.com/office/drawing/2014/main" id="{7A6C28A6-2547-47FB-8C00-F1EDE2A49E78}"/>
              </a:ext>
            </a:extLst>
          </p:cNvPr>
          <p:cNvSpPr>
            <a:spLocks noGrp="1"/>
          </p:cNvSpPr>
          <p:nvPr/>
        </p:nvSpPr>
        <p:spPr>
          <a:xfrm>
            <a:off x="457200" y="5924551"/>
            <a:ext cx="10858500" cy="457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buNone/>
              <a:defRPr sz="150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The pipeline makes every decision reproducible and auditable. Model package remains </a:t>
            </a:r>
            <a:r>
              <a:rPr sz="1500" b="1" dirty="0" err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PendingManualApproval</a:t>
            </a:r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: passing metrics enables review; it does not bypass governance.</a:t>
            </a:r>
          </a:p>
        </p:txBody>
      </p:sp>
    </p:spTree>
    <p:extLst>
      <p:ext uri="{BB962C8B-B14F-4D97-AF65-F5344CB8AC3E}">
        <p14:creationId xmlns:p14="http://schemas.microsoft.com/office/powerpoint/2010/main" val="105160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190-660">
            <a:extLst>
              <a:ext uri="{FF2B5EF4-FFF2-40B4-BE49-F238E27FC236}">
                <a16:creationId xmlns:a16="http://schemas.microsoft.com/office/drawing/2014/main" id="{4B12B68E-1F8A-1725-8AA6-42792A863114}"/>
              </a:ext>
            </a:extLst>
          </p:cNvPr>
          <p:cNvSpPr>
            <a:spLocks noGrp="1"/>
          </p:cNvSpPr>
          <p:nvPr/>
        </p:nvSpPr>
        <p:spPr>
          <a:xfrm>
            <a:off x="11458624" y="61912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52657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</a:rPr>
              <a:t>11</a:t>
            </a:r>
            <a:endParaRPr sz="1000" b="1" dirty="0">
              <a:solidFill>
                <a:srgbClr val="52657A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32" y="98425"/>
            <a:ext cx="10539773" cy="5623105"/>
          </a:xfrm>
          <a:prstGeom prst="rect">
            <a:avLst/>
          </a:prstGeom>
        </p:spPr>
      </p:pic>
      <p:sp>
        <p:nvSpPr>
          <p:cNvPr id="10" name="text-48-42">
            <a:extLst>
              <a:ext uri="{FF2B5EF4-FFF2-40B4-BE49-F238E27FC236}">
                <a16:creationId xmlns:a16="http://schemas.microsoft.com/office/drawing/2014/main" id="{DB1BFD81-9ED0-18FE-ECCB-74268B4A5C28}"/>
              </a:ext>
            </a:extLst>
          </p:cNvPr>
          <p:cNvSpPr>
            <a:spLocks noGrp="1"/>
          </p:cNvSpPr>
          <p:nvPr/>
        </p:nvSpPr>
        <p:spPr>
          <a:xfrm>
            <a:off x="8933767" y="340360"/>
            <a:ext cx="3073400" cy="268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r">
              <a:buNone/>
              <a:defRPr sz="13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3" name="text-48-278">
            <a:extLst>
              <a:ext uri="{FF2B5EF4-FFF2-40B4-BE49-F238E27FC236}">
                <a16:creationId xmlns:a16="http://schemas.microsoft.com/office/drawing/2014/main" id="{520E8DA1-6021-629A-8DAA-5D209D8C5E35}"/>
              </a:ext>
            </a:extLst>
          </p:cNvPr>
          <p:cNvSpPr>
            <a:spLocks noGrp="1"/>
          </p:cNvSpPr>
          <p:nvPr/>
        </p:nvSpPr>
        <p:spPr>
          <a:xfrm>
            <a:off x="184833" y="5819775"/>
            <a:ext cx="11673841" cy="8451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Demo Application : The Real-Time Credit Card Fraud Risk Prediction demo application, showing a live prediction against the In Service endpoint: 15.83% fraud probability vs. the 0.1947 threshold, correctly classified Non-fraud (Section 4.5).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r>
              <a:rPr lang="en-US"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URL : </a:t>
            </a:r>
            <a:r>
              <a:rPr lang="en-US" sz="1500"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  <a:hlinkClick r:id="rId4"/>
              </a:rPr>
              <a:t>https://e722405ddec0df92f9.gradio.live/</a:t>
            </a:r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  <a:p>
            <a:endParaRPr lang="en-US" sz="1500" b="1" dirty="0">
              <a:solidFill>
                <a:srgbClr val="2F6FED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187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48-32">
            <a:extLst>
              <a:ext uri="{FF2B5EF4-FFF2-40B4-BE49-F238E27FC236}">
                <a16:creationId xmlns:a16="http://schemas.microsoft.com/office/drawing/2014/main" id="{FCFF0E8A-B9F4-4B36-A4B7-0E563F7DE7F5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SG" sz="2800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Deployment &amp; artifacts</a:t>
            </a:r>
            <a:endParaRPr sz="2800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4CC98AE8-6734-4DEA-B7BB-313F08487165}"/>
              </a:ext>
            </a:extLst>
          </p:cNvPr>
          <p:cNvSpPr>
            <a:spLocks noGrp="1"/>
          </p:cNvSpPr>
          <p:nvPr/>
        </p:nvSpPr>
        <p:spPr>
          <a:xfrm>
            <a:off x="11439525" y="61531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2</a:t>
            </a:r>
            <a:endParaRPr sz="1000" b="1" dirty="0">
              <a:solidFill>
                <a:srgbClr val="52657A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3"/>
          <a:srcRect t="6051" b="6051"/>
          <a:stretch>
            <a:fillRect/>
          </a:stretch>
        </p:blipFill>
        <p:spPr>
          <a:xfrm>
            <a:off x="457200" y="929361"/>
            <a:ext cx="5286375" cy="2286000"/>
          </a:xfrm>
          <a:prstGeom prst="rect">
            <a:avLst/>
          </a:prstGeom>
        </p:spPr>
      </p:pic>
      <p:pic>
        <p:nvPicPr>
          <p:cNvPr id="16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4840" y="3341757"/>
            <a:ext cx="3611880" cy="3157115"/>
          </a:xfrm>
          <a:prstGeom prst="rect">
            <a:avLst/>
          </a:prstGeom>
        </p:spPr>
      </p:pic>
      <p:pic>
        <p:nvPicPr>
          <p:cNvPr id="17" name="Picture 12"/>
          <p:cNvPicPr>
            <a:picLocks noChangeAspect="1"/>
          </p:cNvPicPr>
          <p:nvPr/>
        </p:nvPicPr>
        <p:blipFill>
          <a:blip r:embed="rId5"/>
          <a:srcRect l="11895" r="11895"/>
          <a:stretch>
            <a:fillRect/>
          </a:stretch>
        </p:blipFill>
        <p:spPr>
          <a:xfrm>
            <a:off x="6143625" y="929361"/>
            <a:ext cx="5238750" cy="2952750"/>
          </a:xfrm>
          <a:prstGeom prst="rect">
            <a:avLst/>
          </a:prstGeom>
        </p:spPr>
      </p:pic>
      <p:sp>
        <p:nvSpPr>
          <p:cNvPr id="6" name="box-645-470">
            <a:extLst>
              <a:ext uri="{FF2B5EF4-FFF2-40B4-BE49-F238E27FC236}">
                <a16:creationId xmlns:a16="http://schemas.microsoft.com/office/drawing/2014/main" id="{7171B820-BFCB-4BB7-8770-B2B649CD2CED}"/>
              </a:ext>
            </a:extLst>
          </p:cNvPr>
          <p:cNvSpPr>
            <a:spLocks noGrp="1"/>
          </p:cNvSpPr>
          <p:nvPr/>
        </p:nvSpPr>
        <p:spPr>
          <a:xfrm>
            <a:off x="6143625" y="4215486"/>
            <a:ext cx="5238750" cy="1381125"/>
          </a:xfrm>
          <a:prstGeom prst="roundRect">
            <a:avLst>
              <a:gd name="adj" fmla="val 5517"/>
            </a:avLst>
          </a:prstGeom>
          <a:solidFill>
            <a:srgbClr val="F2F6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-675-493">
            <a:extLst>
              <a:ext uri="{FF2B5EF4-FFF2-40B4-BE49-F238E27FC236}">
                <a16:creationId xmlns:a16="http://schemas.microsoft.com/office/drawing/2014/main" id="{81DA38B7-EA07-492D-ABCD-3C6DB6ADB1D9}"/>
              </a:ext>
            </a:extLst>
          </p:cNvPr>
          <p:cNvSpPr>
            <a:spLocks noGrp="1"/>
          </p:cNvSpPr>
          <p:nvPr/>
        </p:nvSpPr>
        <p:spPr>
          <a:xfrm>
            <a:off x="6429375" y="4434561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913" lnSpcReduction="20000"/>
          </a:bodyPr>
          <a:lstStyle/>
          <a:p>
            <a:pPr algn="l">
              <a:buNone/>
              <a:defRPr sz="17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E"/>
                </a:solidFill>
                <a:latin typeface="Arial"/>
                <a:ea typeface="Arial"/>
                <a:cs typeface="Arial"/>
              </a:rPr>
              <a:t>Runtime controls</a:t>
            </a:r>
          </a:p>
        </p:txBody>
      </p:sp>
      <p:sp>
        <p:nvSpPr>
          <p:cNvPr id="8" name="text-675-538">
            <a:extLst>
              <a:ext uri="{FF2B5EF4-FFF2-40B4-BE49-F238E27FC236}">
                <a16:creationId xmlns:a16="http://schemas.microsoft.com/office/drawing/2014/main" id="{77FC0123-F9D8-44D4-8609-658186BF6A40}"/>
              </a:ext>
            </a:extLst>
          </p:cNvPr>
          <p:cNvSpPr>
            <a:spLocks noGrp="1"/>
          </p:cNvSpPr>
          <p:nvPr/>
        </p:nvSpPr>
        <p:spPr>
          <a:xfrm>
            <a:off x="6429375" y="4863186"/>
            <a:ext cx="4524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69" lnSpcReduction="20000"/>
          </a:bodyPr>
          <a:lstStyle/>
          <a:p>
            <a:pPr algn="l">
              <a:buNone/>
              <a:defRPr sz="1350" b="0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CloudWatch endpoint logs  •  request/response validation  •  threshold returned with prediction  •  model version and algorithm traceability</a:t>
            </a:r>
          </a:p>
        </p:txBody>
      </p:sp>
    </p:spTree>
    <p:extLst>
      <p:ext uri="{BB962C8B-B14F-4D97-AF65-F5344CB8AC3E}">
        <p14:creationId xmlns:p14="http://schemas.microsoft.com/office/powerpoint/2010/main" val="2066401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48-32">
            <a:extLst>
              <a:ext uri="{FF2B5EF4-FFF2-40B4-BE49-F238E27FC236}">
                <a16:creationId xmlns:a16="http://schemas.microsoft.com/office/drawing/2014/main" id="{C6EC760B-781D-4122-82B6-EE7E792EC7EB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070"/>
          </a:bodyPr>
          <a:lstStyle/>
          <a:p>
            <a:pPr>
              <a:defRPr sz="2925" b="1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lang="en-US" sz="2925" b="1" dirty="0">
                <a:solidFill>
                  <a:srgbClr val="10233E"/>
                </a:solidFill>
                <a:latin typeface="Arial"/>
                <a:ea typeface="Arial"/>
                <a:cs typeface="Arial"/>
              </a:rPr>
              <a:t>Final package, governance and next steps</a:t>
            </a:r>
            <a:endParaRPr sz="2925" b="1" dirty="0">
              <a:solidFill>
                <a:srgbClr val="1023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-1190-660">
            <a:extLst>
              <a:ext uri="{FF2B5EF4-FFF2-40B4-BE49-F238E27FC236}">
                <a16:creationId xmlns:a16="http://schemas.microsoft.com/office/drawing/2014/main" id="{A0A61CC1-3AFE-4CC8-A8EC-51D3F26CD732}"/>
              </a:ext>
            </a:extLst>
          </p:cNvPr>
          <p:cNvSpPr>
            <a:spLocks noGrp="1"/>
          </p:cNvSpPr>
          <p:nvPr/>
        </p:nvSpPr>
        <p:spPr>
          <a:xfrm>
            <a:off x="11401425" y="6162675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1050" b="1">
                <a:solidFill>
                  <a:srgbClr val="52657A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000" b="1" dirty="0">
                <a:solidFill>
                  <a:srgbClr val="52657A"/>
                </a:solidFill>
                <a:latin typeface="Arial"/>
                <a:ea typeface="Arial"/>
                <a:cs typeface="Arial"/>
              </a:rPr>
              <a:t>3</a:t>
            </a:r>
            <a:endParaRPr sz="1000" b="1" dirty="0">
              <a:solidFill>
                <a:srgbClr val="5265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-48-125">
            <a:extLst>
              <a:ext uri="{FF2B5EF4-FFF2-40B4-BE49-F238E27FC236}">
                <a16:creationId xmlns:a16="http://schemas.microsoft.com/office/drawing/2014/main" id="{0FA5540A-428C-4D7E-8FE3-0EA17F7F4CF1}"/>
              </a:ext>
            </a:extLst>
          </p:cNvPr>
          <p:cNvSpPr>
            <a:spLocks noGrp="1"/>
          </p:cNvSpPr>
          <p:nvPr/>
        </p:nvSpPr>
        <p:spPr>
          <a:xfrm>
            <a:off x="457199" y="1332143"/>
            <a:ext cx="3495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rPr>
              <a:t>DELIVERED ARTIFACTS</a:t>
            </a:r>
          </a:p>
        </p:txBody>
      </p:sp>
      <p:sp>
        <p:nvSpPr>
          <p:cNvPr id="4" name="text-48-170">
            <a:extLst>
              <a:ext uri="{FF2B5EF4-FFF2-40B4-BE49-F238E27FC236}">
                <a16:creationId xmlns:a16="http://schemas.microsoft.com/office/drawing/2014/main" id="{38E4F6A3-03D1-4846-8904-C6FDE4627B32}"/>
              </a:ext>
            </a:extLst>
          </p:cNvPr>
          <p:cNvSpPr>
            <a:spLocks noGrp="1"/>
          </p:cNvSpPr>
          <p:nvPr/>
        </p:nvSpPr>
        <p:spPr>
          <a:xfrm>
            <a:off x="457200" y="1760768"/>
            <a:ext cx="4762500" cy="3000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Versioned raw + processed datasets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Leakage-safe feature pipeline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10 tracked candidate runs</a:t>
            </a:r>
          </a:p>
          <a:p>
            <a:pPr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b="0" dirty="0" err="1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XGBoost</a:t>
            </a: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 champion + </a:t>
            </a:r>
            <a:r>
              <a:rPr lang="en-SG" sz="1725" dirty="0">
                <a:solidFill>
                  <a:srgbClr val="10233E"/>
                </a:solidFill>
                <a:latin typeface="Times New Roman"/>
                <a:cs typeface="Times New Roman"/>
              </a:rPr>
              <a:t>Fixed decision threshold</a:t>
            </a:r>
            <a:endParaRPr sz="1725" dirty="0">
              <a:solidFill>
                <a:srgbClr val="10233E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Registered SageMaker model package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Real-time endpoint + prediction app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CloudWatch operational logs</a:t>
            </a:r>
          </a:p>
        </p:txBody>
      </p:sp>
      <p:sp>
        <p:nvSpPr>
          <p:cNvPr id="5" name="text-655-125">
            <a:extLst>
              <a:ext uri="{FF2B5EF4-FFF2-40B4-BE49-F238E27FC236}">
                <a16:creationId xmlns:a16="http://schemas.microsoft.com/office/drawing/2014/main" id="{88C96B90-7A2C-4474-972D-2A96F3FF6BFB}"/>
              </a:ext>
            </a:extLst>
          </p:cNvPr>
          <p:cNvSpPr>
            <a:spLocks noGrp="1"/>
          </p:cNvSpPr>
          <p:nvPr/>
        </p:nvSpPr>
        <p:spPr>
          <a:xfrm>
            <a:off x="6238874" y="1332143"/>
            <a:ext cx="4200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50" b="1">
                <a:solidFill>
                  <a:srgbClr val="E65555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65555"/>
                </a:solidFill>
                <a:latin typeface="Times New Roman"/>
                <a:ea typeface="Times New Roman"/>
                <a:cs typeface="Times New Roman"/>
              </a:rPr>
              <a:t>GOVERNANCE &amp; NEXT TESTS</a:t>
            </a:r>
          </a:p>
        </p:txBody>
      </p:sp>
      <p:sp>
        <p:nvSpPr>
          <p:cNvPr id="6" name="text-655-170">
            <a:extLst>
              <a:ext uri="{FF2B5EF4-FFF2-40B4-BE49-F238E27FC236}">
                <a16:creationId xmlns:a16="http://schemas.microsoft.com/office/drawing/2014/main" id="{821E00F4-7F34-402B-9FC0-4B661743D42E}"/>
              </a:ext>
            </a:extLst>
          </p:cNvPr>
          <p:cNvSpPr>
            <a:spLocks noGrp="1"/>
          </p:cNvSpPr>
          <p:nvPr/>
        </p:nvSpPr>
        <p:spPr>
          <a:xfrm>
            <a:off x="6238875" y="1760769"/>
            <a:ext cx="4762500" cy="29241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Manual approval before promotion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Monitor input drift and alert rate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Track recall/FPR when labels arrive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Segment checks by location, device, merchant and authentication method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Investigate false negatives first</a:t>
            </a:r>
          </a:p>
          <a:p>
            <a:pPr algn="l">
              <a:lnSpc>
                <a:spcPct val="150000"/>
              </a:lnSpc>
              <a:buNone/>
              <a:defRPr sz="1725" b="0">
                <a:solidFill>
                  <a:srgbClr val="1023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0233E"/>
                </a:solidFill>
                <a:latin typeface="Times New Roman"/>
                <a:ea typeface="Times New Roman"/>
                <a:cs typeface="Times New Roman"/>
              </a:rPr>
              <a:t>• Retrain only through the gated pipeline</a:t>
            </a:r>
          </a:p>
        </p:txBody>
      </p:sp>
    </p:spTree>
    <p:extLst>
      <p:ext uri="{BB962C8B-B14F-4D97-AF65-F5344CB8AC3E}">
        <p14:creationId xmlns:p14="http://schemas.microsoft.com/office/powerpoint/2010/main" val="859386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1FF72-C4AA-7F9D-432B-56ECE795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5EC9CC3-E81F-3250-094F-696900B76507}"/>
              </a:ext>
            </a:extLst>
          </p:cNvPr>
          <p:cNvSpPr txBox="1">
            <a:spLocks/>
          </p:cNvSpPr>
          <p:nvPr/>
        </p:nvSpPr>
        <p:spPr>
          <a:xfrm>
            <a:off x="3825425" y="2378072"/>
            <a:ext cx="4804745" cy="1297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>
            <a:defPPr>
              <a:defRPr lang="en-US"/>
            </a:defPPr>
            <a:lvl1pPr>
              <a:buNone/>
              <a:defRPr sz="1500" b="1">
                <a:solidFill>
                  <a:srgbClr val="2F6FED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/>
            <a:r>
              <a:rPr lang="en-US" sz="5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05562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hatGPT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1266</Words>
  <Application>Microsoft Office PowerPoint</Application>
  <DocSecurity>0</DocSecurity>
  <PresentationFormat>Widescreen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THA ZIN OO</cp:lastModifiedBy>
  <cp:revision>20</cp:revision>
  <dcterms:created xsi:type="dcterms:W3CDTF">2026-08-25T16:59:52Z</dcterms:created>
  <dcterms:modified xsi:type="dcterms:W3CDTF">2026-08-26T09:31:08Z</dcterms:modified>
</cp:coreProperties>
</file>